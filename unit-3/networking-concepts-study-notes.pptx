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da637bf304068" /><Relationship Type="http://schemas.openxmlformats.org/officeDocument/2006/relationships/extended-properties" Target="/docProps/app.xml" Id="Rebcf50f5c3794a92" /><Relationship Type="http://schemas.openxmlformats.org/officeDocument/2006/relationships/officeDocument" Target="/ppt/presentation.xml" Id="R1191fca9b9aa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0c29bfa89b4178"/>
  </p:sldMasterIdLst>
  <p:notesMasterIdLst>
    <p:notesMasterId xmlns:r="http://schemas.openxmlformats.org/officeDocument/2006/relationships" r:id="Rff96f1018e854ee3"/>
  </p:notesMasterIdLst>
  <p:sldIdLst>
    <p:sldId xmlns:r="http://schemas.openxmlformats.org/officeDocument/2006/relationships" id="256" r:id="R2e20881c39c44305"/>
    <p:sldId xmlns:r="http://schemas.openxmlformats.org/officeDocument/2006/relationships" id="257" r:id="Re64661aa84524133"/>
    <p:sldId xmlns:r="http://schemas.openxmlformats.org/officeDocument/2006/relationships" id="258" r:id="Rb1b8bd3c496c4f7a"/>
    <p:sldId xmlns:r="http://schemas.openxmlformats.org/officeDocument/2006/relationships" id="259" r:id="R89b7f7400fe64f24"/>
    <p:sldId xmlns:r="http://schemas.openxmlformats.org/officeDocument/2006/relationships" id="260" r:id="Rb4f11d593cc74d18"/>
    <p:sldId xmlns:r="http://schemas.openxmlformats.org/officeDocument/2006/relationships" id="261" r:id="R133298d289b04b92"/>
    <p:sldId xmlns:r="http://schemas.openxmlformats.org/officeDocument/2006/relationships" id="262" r:id="R98fd8296a3d24a43"/>
    <p:sldId xmlns:r="http://schemas.openxmlformats.org/officeDocument/2006/relationships" id="263" r:id="Rfb4495fda6ea4823"/>
    <p:sldId xmlns:r="http://schemas.openxmlformats.org/officeDocument/2006/relationships" id="264" r:id="R16f61a43697e4b62"/>
    <p:sldId xmlns:r="http://schemas.openxmlformats.org/officeDocument/2006/relationships" id="265" r:id="R8b099057067a4312"/>
    <p:sldId xmlns:r="http://schemas.openxmlformats.org/officeDocument/2006/relationships" id="266" r:id="R7877ee286b3a4f3c"/>
    <p:sldId xmlns:r="http://schemas.openxmlformats.org/officeDocument/2006/relationships" id="267" r:id="R6b899f1e7a4e4d48"/>
    <p:sldId xmlns:r="http://schemas.openxmlformats.org/officeDocument/2006/relationships" id="268" r:id="R8112fe77abd8497f"/>
    <p:sldId xmlns:r="http://schemas.openxmlformats.org/officeDocument/2006/relationships" id="269" r:id="R6ff3e5fbc6b44eb1"/>
    <p:sldId xmlns:r="http://schemas.openxmlformats.org/officeDocument/2006/relationships" id="270" r:id="Redd9d2cdd97c4646"/>
    <p:sldId xmlns:r="http://schemas.openxmlformats.org/officeDocument/2006/relationships" id="271" r:id="R309da743afb94bb7"/>
    <p:sldId xmlns:r="http://schemas.openxmlformats.org/officeDocument/2006/relationships" id="272" r:id="R04b324dffada4558"/>
    <p:sldId xmlns:r="http://schemas.openxmlformats.org/officeDocument/2006/relationships" id="273" r:id="Rd23d9f262cda4e2a"/>
    <p:sldId xmlns:r="http://schemas.openxmlformats.org/officeDocument/2006/relationships" id="274" r:id="R19278887a3ae4aee"/>
    <p:sldId xmlns:r="http://schemas.openxmlformats.org/officeDocument/2006/relationships" id="275" r:id="Raa2dd4870cf24b8c"/>
    <p:sldId xmlns:r="http://schemas.openxmlformats.org/officeDocument/2006/relationships" id="276" r:id="R54753102a9d44a79"/>
    <p:sldId xmlns:r="http://schemas.openxmlformats.org/officeDocument/2006/relationships" id="277" r:id="Radfdb797fc734ec0"/>
    <p:sldId xmlns:r="http://schemas.openxmlformats.org/officeDocument/2006/relationships" id="278" r:id="R3312bfe5c9584d3d"/>
    <p:sldId xmlns:r="http://schemas.openxmlformats.org/officeDocument/2006/relationships" id="279" r:id="Rcf30488462704e6a"/>
    <p:sldId xmlns:r="http://schemas.openxmlformats.org/officeDocument/2006/relationships" id="280" r:id="Raf9eda1e330a4ca7"/>
    <p:sldId xmlns:r="http://schemas.openxmlformats.org/officeDocument/2006/relationships" id="281" r:id="R6ea724da27f848b2"/>
    <p:sldId xmlns:r="http://schemas.openxmlformats.org/officeDocument/2006/relationships" id="282" r:id="R059624a17e1c40a5"/>
    <p:sldId xmlns:r="http://schemas.openxmlformats.org/officeDocument/2006/relationships" id="283" r:id="R5e1b1389a0c54c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b0bfdbb99e4a68" /><Relationship Type="http://schemas.openxmlformats.org/officeDocument/2006/relationships/slideMaster" Target="/ppt/slideMasters/slideMaster1.xml" Id="R5c0c29bfa89b4178" /><Relationship Type="http://schemas.openxmlformats.org/officeDocument/2006/relationships/notesMaster" Target="/ppt/notesMasters/notesMaster1.xml" Id="Rff96f1018e854ee3" /><Relationship Type="http://schemas.openxmlformats.org/officeDocument/2006/relationships/presProps" Target="/ppt/presProps.xml" Id="Rb36dd1a05cdb41c3" /><Relationship Type="http://schemas.openxmlformats.org/officeDocument/2006/relationships/tableStyles" Target="/ppt/tableStyles.xml" Id="R9102b94e6bb84dee" /><Relationship Type="http://schemas.openxmlformats.org/officeDocument/2006/relationships/slide" Target="/ppt/slides/slide1.xml" Id="R2e20881c39c44305" /><Relationship Type="http://schemas.openxmlformats.org/officeDocument/2006/relationships/slide" Target="/ppt/slides/slide2.xml" Id="Re64661aa84524133" /><Relationship Type="http://schemas.openxmlformats.org/officeDocument/2006/relationships/slide" Target="/ppt/slides/slide3.xml" Id="Rb1b8bd3c496c4f7a" /><Relationship Type="http://schemas.openxmlformats.org/officeDocument/2006/relationships/slide" Target="/ppt/slides/slide4.xml" Id="R89b7f7400fe64f24" /><Relationship Type="http://schemas.openxmlformats.org/officeDocument/2006/relationships/slide" Target="/ppt/slides/slide5.xml" Id="Rb4f11d593cc74d18" /><Relationship Type="http://schemas.openxmlformats.org/officeDocument/2006/relationships/slide" Target="/ppt/slides/slide6.xml" Id="R133298d289b04b92" /><Relationship Type="http://schemas.openxmlformats.org/officeDocument/2006/relationships/slide" Target="/ppt/slides/slide7.xml" Id="R98fd8296a3d24a43" /><Relationship Type="http://schemas.openxmlformats.org/officeDocument/2006/relationships/slide" Target="/ppt/slides/slide8.xml" Id="Rfb4495fda6ea4823" /><Relationship Type="http://schemas.openxmlformats.org/officeDocument/2006/relationships/slide" Target="/ppt/slides/slide9.xml" Id="R16f61a43697e4b62" /><Relationship Type="http://schemas.openxmlformats.org/officeDocument/2006/relationships/slide" Target="/ppt/slides/slide10.xml" Id="R8b099057067a4312" /><Relationship Type="http://schemas.openxmlformats.org/officeDocument/2006/relationships/slide" Target="/ppt/slides/slide11.xml" Id="R7877ee286b3a4f3c" /><Relationship Type="http://schemas.openxmlformats.org/officeDocument/2006/relationships/slide" Target="/ppt/slides/slide12.xml" Id="R6b899f1e7a4e4d48" /><Relationship Type="http://schemas.openxmlformats.org/officeDocument/2006/relationships/slide" Target="/ppt/slides/slide13.xml" Id="R8112fe77abd8497f" /><Relationship Type="http://schemas.openxmlformats.org/officeDocument/2006/relationships/slide" Target="/ppt/slides/slide14.xml" Id="R6ff3e5fbc6b44eb1" /><Relationship Type="http://schemas.openxmlformats.org/officeDocument/2006/relationships/slide" Target="/ppt/slides/slide15.xml" Id="Redd9d2cdd97c4646" /><Relationship Type="http://schemas.openxmlformats.org/officeDocument/2006/relationships/slide" Target="/ppt/slides/slide16.xml" Id="R309da743afb94bb7" /><Relationship Type="http://schemas.openxmlformats.org/officeDocument/2006/relationships/slide" Target="/ppt/slides/slide17.xml" Id="R04b324dffada4558" /><Relationship Type="http://schemas.openxmlformats.org/officeDocument/2006/relationships/slide" Target="/ppt/slides/slide18.xml" Id="Rd23d9f262cda4e2a" /><Relationship Type="http://schemas.openxmlformats.org/officeDocument/2006/relationships/slide" Target="/ppt/slides/slide19.xml" Id="R19278887a3ae4aee" /><Relationship Type="http://schemas.openxmlformats.org/officeDocument/2006/relationships/slide" Target="/ppt/slides/slide20.xml" Id="Raa2dd4870cf24b8c" /><Relationship Type="http://schemas.openxmlformats.org/officeDocument/2006/relationships/slide" Target="/ppt/slides/slide21.xml" Id="R54753102a9d44a79" /><Relationship Type="http://schemas.openxmlformats.org/officeDocument/2006/relationships/slide" Target="/ppt/slides/slide22.xml" Id="Radfdb797fc734ec0" /><Relationship Type="http://schemas.openxmlformats.org/officeDocument/2006/relationships/slide" Target="/ppt/slides/slide23.xml" Id="R3312bfe5c9584d3d" /><Relationship Type="http://schemas.openxmlformats.org/officeDocument/2006/relationships/slide" Target="/ppt/slides/slide24.xml" Id="Rcf30488462704e6a" /><Relationship Type="http://schemas.openxmlformats.org/officeDocument/2006/relationships/slide" Target="/ppt/slides/slide25.xml" Id="Raf9eda1e330a4ca7" /><Relationship Type="http://schemas.openxmlformats.org/officeDocument/2006/relationships/slide" Target="/ppt/slides/slide26.xml" Id="R6ea724da27f848b2" /><Relationship Type="http://schemas.openxmlformats.org/officeDocument/2006/relationships/slide" Target="/ppt/slides/slide27.xml" Id="R059624a17e1c40a5" /><Relationship Type="http://schemas.openxmlformats.org/officeDocument/2006/relationships/slide" Target="/ppt/slides/slide28.xml" Id="R5e1b1389a0c54c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99bd612e448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3e6971913546f2" /><Relationship Type="http://schemas.openxmlformats.org/officeDocument/2006/relationships/notesMaster" Target="/ppt/notesMasters/notesMaster1.xml" Id="R1b0b57f6d375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1414893884750" /><Relationship Type="http://schemas.openxmlformats.org/officeDocument/2006/relationships/notesMaster" Target="/ppt/notesMasters/notesMaster1.xml" Id="Rdf369f88b9bf4a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539082fd0442d0" /><Relationship Type="http://schemas.openxmlformats.org/officeDocument/2006/relationships/notesMaster" Target="/ppt/notesMasters/notesMaster1.xml" Id="Rf5c1c6ad40bf40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fa000462ab4b47" /><Relationship Type="http://schemas.openxmlformats.org/officeDocument/2006/relationships/notesMaster" Target="/ppt/notesMasters/notesMaster1.xml" Id="Rec045eb6afc845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32de2ef83d4fc6" /><Relationship Type="http://schemas.openxmlformats.org/officeDocument/2006/relationships/notesMaster" Target="/ppt/notesMasters/notesMaster1.xml" Id="R97672b9f2d1441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3c50bc1edc4e9e" /><Relationship Type="http://schemas.openxmlformats.org/officeDocument/2006/relationships/notesMaster" Target="/ppt/notesMasters/notesMaster1.xml" Id="Rda0e90faee0b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b4361831c40cd" /><Relationship Type="http://schemas.openxmlformats.org/officeDocument/2006/relationships/notesMaster" Target="/ppt/notesMasters/notesMaster1.xml" Id="Rbd04d36486f142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a1cdf1b07645bb" /><Relationship Type="http://schemas.openxmlformats.org/officeDocument/2006/relationships/notesMaster" Target="/ppt/notesMasters/notesMaster1.xml" Id="R43fe7741929548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c7ca70985b4604" /><Relationship Type="http://schemas.openxmlformats.org/officeDocument/2006/relationships/notesMaster" Target="/ppt/notesMasters/notesMaster1.xml" Id="R168747a6d18f48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441f6fa74c47df" /><Relationship Type="http://schemas.openxmlformats.org/officeDocument/2006/relationships/notesMaster" Target="/ppt/notesMasters/notesMaster1.xml" Id="R2b57437349e64c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8db5efac604575" /><Relationship Type="http://schemas.openxmlformats.org/officeDocument/2006/relationships/notesMaster" Target="/ppt/notesMasters/notesMaster1.xml" Id="R6d18e4970af74d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32e1e58d914b25" /><Relationship Type="http://schemas.openxmlformats.org/officeDocument/2006/relationships/notesMaster" Target="/ppt/notesMasters/notesMaster1.xml" Id="R9777de836e4944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f50eed59ec4a7c" /><Relationship Type="http://schemas.openxmlformats.org/officeDocument/2006/relationships/notesMaster" Target="/ppt/notesMasters/notesMaster1.xml" Id="Rb1fcb39eac2a44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5341ab060d4d22" /><Relationship Type="http://schemas.openxmlformats.org/officeDocument/2006/relationships/notesMaster" Target="/ppt/notesMasters/notesMaster1.xml" Id="R7b42bfcc4f4f49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02d18304a84a25" /><Relationship Type="http://schemas.openxmlformats.org/officeDocument/2006/relationships/notesMaster" Target="/ppt/notesMasters/notesMaster1.xml" Id="Rd045425c85af46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78998975d34c21" /><Relationship Type="http://schemas.openxmlformats.org/officeDocument/2006/relationships/notesMaster" Target="/ppt/notesMasters/notesMaster1.xml" Id="R6cfc3168492744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be51ee1df24558" /><Relationship Type="http://schemas.openxmlformats.org/officeDocument/2006/relationships/notesMaster" Target="/ppt/notesMasters/notesMaster1.xml" Id="Rfdddf75d180241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e9738a781e421f" /><Relationship Type="http://schemas.openxmlformats.org/officeDocument/2006/relationships/notesMaster" Target="/ppt/notesMasters/notesMaster1.xml" Id="R247163c6587649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f2411708724a34" /><Relationship Type="http://schemas.openxmlformats.org/officeDocument/2006/relationships/notesMaster" Target="/ppt/notesMasters/notesMaster1.xml" Id="Rfb7d895cfc7945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f9e0a9c8fb401f" /><Relationship Type="http://schemas.openxmlformats.org/officeDocument/2006/relationships/notesMaster" Target="/ppt/notesMasters/notesMaster1.xml" Id="R3f8215707ed64e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1dfdd922ba44ad" /><Relationship Type="http://schemas.openxmlformats.org/officeDocument/2006/relationships/notesMaster" Target="/ppt/notesMasters/notesMaster1.xml" Id="Rf27c0bf7b92b4b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a152856e36406f" /><Relationship Type="http://schemas.openxmlformats.org/officeDocument/2006/relationships/notesMaster" Target="/ppt/notesMasters/notesMaster1.xml" Id="Rae765b56cc9f49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b09e86d51e24000" /><Relationship Type="http://schemas.openxmlformats.org/officeDocument/2006/relationships/notesMaster" Target="/ppt/notesMasters/notesMaster1.xml" Id="Reae5aec4e70f44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2957ddbd544142" /><Relationship Type="http://schemas.openxmlformats.org/officeDocument/2006/relationships/notesMaster" Target="/ppt/notesMasters/notesMaster1.xml" Id="Rd461cdcefec54e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a8b7912c1a4eae" /><Relationship Type="http://schemas.openxmlformats.org/officeDocument/2006/relationships/notesMaster" Target="/ppt/notesMasters/notesMaster1.xml" Id="R380dbffb519b4c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9a835faa5d43aa" /><Relationship Type="http://schemas.openxmlformats.org/officeDocument/2006/relationships/notesMaster" Target="/ppt/notesMasters/notesMaster1.xml" Id="Re55777d388434ae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a6d88740934802" /><Relationship Type="http://schemas.openxmlformats.org/officeDocument/2006/relationships/notesMaster" Target="/ppt/notesMasters/notesMaster1.xml" Id="R6dc698659290414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3abea402a1c4b34" /><Relationship Type="http://schemas.openxmlformats.org/officeDocument/2006/relationships/notesMaster" Target="/ppt/notesMasters/notesMaster1.xml" Id="R4aa10ec51e0d43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747c941b24b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e3c706e6449de" /><Relationship Type="http://schemas.openxmlformats.org/officeDocument/2006/relationships/slideLayout" Target="/ppt/slideLayouts/slideLayout1.xml" Id="Raf02fa5061944f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02fa5061944f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be2763d5e4680" /><Relationship Type="http://schemas.openxmlformats.org/officeDocument/2006/relationships/notesSlide" Target="/ppt/notesSlides/notesSlide1.xml" Id="R6a98b2d27e2f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6e566e14c4ba9" /><Relationship Type="http://schemas.openxmlformats.org/officeDocument/2006/relationships/notesSlide" Target="/ppt/notesSlides/notesSlide2.xml" Id="R8fc4406a31e946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83bf6553c4147" /><Relationship Type="http://schemas.openxmlformats.org/officeDocument/2006/relationships/notesSlide" Target="/ppt/notesSlides/notesSlide3.xml" Id="Rbe7c61982dea4c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8f2216944baf" /><Relationship Type="http://schemas.openxmlformats.org/officeDocument/2006/relationships/notesSlide" Target="/ppt/notesSlides/notesSlide4.xml" Id="R3e5b7557f71f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4fafe096d4385" /><Relationship Type="http://schemas.openxmlformats.org/officeDocument/2006/relationships/notesSlide" Target="/ppt/notesSlides/notesSlide5.xml" Id="R48a97dad77494c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682c97dc4200" /><Relationship Type="http://schemas.openxmlformats.org/officeDocument/2006/relationships/notesSlide" Target="/ppt/notesSlides/notesSlide6.xml" Id="R1e76e9036af749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a5ec450246ff" /><Relationship Type="http://schemas.openxmlformats.org/officeDocument/2006/relationships/notesSlide" Target="/ppt/notesSlides/notesSlide7.xml" Id="Rb2b09af77f0646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108647554414b" /><Relationship Type="http://schemas.openxmlformats.org/officeDocument/2006/relationships/notesSlide" Target="/ppt/notesSlides/notesSlide8.xml" Id="Re09f0250c7774c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f619356cc4840" /><Relationship Type="http://schemas.openxmlformats.org/officeDocument/2006/relationships/notesSlide" Target="/ppt/notesSlides/notesSlide9.xml" Id="R150f6b7602e84e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7fae6606d4a68" /><Relationship Type="http://schemas.openxmlformats.org/officeDocument/2006/relationships/notesSlide" Target="/ppt/notesSlides/notesSlide10.xml" Id="R9ba6e1ca83da46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d2b186f1a4fe9" /><Relationship Type="http://schemas.openxmlformats.org/officeDocument/2006/relationships/notesSlide" Target="/ppt/notesSlides/notesSlide11.xml" Id="R4e0cb6ebadd94d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b0d85d8274d20" /><Relationship Type="http://schemas.openxmlformats.org/officeDocument/2006/relationships/notesSlide" Target="/ppt/notesSlides/notesSlide12.xml" Id="R21a9e6b25d1545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a4dd47134ee5" /><Relationship Type="http://schemas.openxmlformats.org/officeDocument/2006/relationships/notesSlide" Target="/ppt/notesSlides/notesSlide13.xml" Id="R6daae5235a7d4c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94ae301ce4699" /><Relationship Type="http://schemas.openxmlformats.org/officeDocument/2006/relationships/notesSlide" Target="/ppt/notesSlides/notesSlide14.xml" Id="Reb7fd6e7d2604d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304f66d784e84" /><Relationship Type="http://schemas.openxmlformats.org/officeDocument/2006/relationships/notesSlide" Target="/ppt/notesSlides/notesSlide15.xml" Id="R9378103084974f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5fdaaaaa04d10" /><Relationship Type="http://schemas.openxmlformats.org/officeDocument/2006/relationships/notesSlide" Target="/ppt/notesSlides/notesSlide16.xml" Id="Rfbb0ff6ff71947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120a8da6d4d81" /><Relationship Type="http://schemas.openxmlformats.org/officeDocument/2006/relationships/notesSlide" Target="/ppt/notesSlides/notesSlide17.xml" Id="Rc31629078f8b4f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4c5a279c24921" /><Relationship Type="http://schemas.openxmlformats.org/officeDocument/2006/relationships/notesSlide" Target="/ppt/notesSlides/notesSlide18.xml" Id="R3cdebf6eff934c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34a3c027c400e" /><Relationship Type="http://schemas.openxmlformats.org/officeDocument/2006/relationships/notesSlide" Target="/ppt/notesSlides/notesSlide19.xml" Id="R005714e439134b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55fd952944fc2" /><Relationship Type="http://schemas.openxmlformats.org/officeDocument/2006/relationships/notesSlide" Target="/ppt/notesSlides/notesSlide20.xml" Id="R204e0f499d704c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b27b185a04f8b" /><Relationship Type="http://schemas.openxmlformats.org/officeDocument/2006/relationships/notesSlide" Target="/ppt/notesSlides/notesSlide21.xml" Id="R6d45c9cad20549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a50a6b9a54265" /><Relationship Type="http://schemas.openxmlformats.org/officeDocument/2006/relationships/notesSlide" Target="/ppt/notesSlides/notesSlide22.xml" Id="R7132c48a87d042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740ee83624a6d" /><Relationship Type="http://schemas.openxmlformats.org/officeDocument/2006/relationships/notesSlide" Target="/ppt/notesSlides/notesSlide23.xml" Id="R2045fe9d38a847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ff8bff277435b" /><Relationship Type="http://schemas.openxmlformats.org/officeDocument/2006/relationships/notesSlide" Target="/ppt/notesSlides/notesSlide24.xml" Id="Ra8dac73ef2264a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55367200d4c7b" /><Relationship Type="http://schemas.openxmlformats.org/officeDocument/2006/relationships/notesSlide" Target="/ppt/notesSlides/notesSlide25.xml" Id="R477702b808bf4e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f38e9fdd04fef" /><Relationship Type="http://schemas.openxmlformats.org/officeDocument/2006/relationships/notesSlide" Target="/ppt/notesSlides/notesSlide26.xml" Id="R8bf3f202970f40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4be21d90343e8" /><Relationship Type="http://schemas.openxmlformats.org/officeDocument/2006/relationships/notesSlide" Target="/ppt/notesSlides/notesSlide27.xml" Id="R4eed77a4a77141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d9dedae5b475b" /><Relationship Type="http://schemas.openxmlformats.org/officeDocument/2006/relationships/image" Target="/ppt/media/image.jpeg" Id="R214fd59726a04c73" /><Relationship Type="http://schemas.openxmlformats.org/officeDocument/2006/relationships/image" Target="/ppt/media/image2.jpeg" Id="Rfbbebd8cace94a66" /><Relationship Type="http://schemas.openxmlformats.org/officeDocument/2006/relationships/image" Target="/ppt/media/image3.jpeg" Id="Ra8d5ce5d897543ce" /><Relationship Type="http://schemas.openxmlformats.org/officeDocument/2006/relationships/image" Target="/ppt/media/image4.jpeg" Id="Rc8694ed035dc47d0" /><Relationship Type="http://schemas.openxmlformats.org/officeDocument/2006/relationships/image" Target="/ppt/media/image5.jpeg" Id="R38fa920e12034cee" /><Relationship Type="http://schemas.openxmlformats.org/officeDocument/2006/relationships/image" Target="/ppt/media/image6.jpeg" Id="R85f53cfa236c4819" /><Relationship Type="http://schemas.openxmlformats.org/officeDocument/2006/relationships/image" Target="/ppt/media/image7.jpeg" Id="R55c29fa97d314dcd" /><Relationship Type="http://schemas.openxmlformats.org/officeDocument/2006/relationships/image" Target="/ppt/media/image8.jpeg" Id="R29567d9c6c0741cb" /><Relationship Type="http://schemas.openxmlformats.org/officeDocument/2006/relationships/notesSlide" Target="/ppt/notesSlides/notesSlide28.xml" Id="Rd2215e9fb78940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B7648-E79B-42E0-9876-621E8B17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55B21-5E14-472B-8161-8C4ED45D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7CD68-C6B8-4248-9B9F-D917B38B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0B80-2FBC-4805-A21B-33C120DA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Linux Networking Study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C250-15E7-48CF-BCBC-55F61DD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90539-AE39-4DAE-80EB-FA19455C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Analyzing &amp; Managing Networks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E64F6-000C-4953-AA64-3741F4B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7B4C8"/>
                </a:solidFill>
              </a:defRPr>
            </a:pPr>
            <a:r>
              <a:rPr sz="1650" b="0" i="0">
                <a:solidFill>
                  <a:srgbClr val="A7B4C8"/>
                </a:solidFill>
              </a:rPr>
              <a:t>From your Unit‑3 notes: ifconfig, iwconfig, IP addressing, DNS, dig, and practical troubleshooting.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BCDA7-EE3B-41C1-A0D2-C132DFB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A2876-F0DA-4DB8-9761-F3A9D4A5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172A"/>
                </a:solidFill>
              </a:defRPr>
            </a:pPr>
            <a:r>
              <a:rPr sz="975" b="1" i="0">
                <a:solidFill>
                  <a:srgbClr val="0F172A"/>
                </a:solidFill>
              </a:rPr>
              <a:t>Beginner-friendly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DB628-E5D8-4769-B5BD-D8A1258F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718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3E635"/>
          </a:solidFill>
          <a:ln xmlns:a="http://schemas.openxmlformats.org/drawingml/2006/main" w="9525">
            <a:solidFill>
              <a:srgbClr val="A3E6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A89A3-3BFA-4523-80E2-9111C4A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385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172A"/>
                </a:solidFill>
              </a:defRPr>
            </a:pPr>
            <a:r>
              <a:rPr sz="975" b="1" i="0">
                <a:solidFill>
                  <a:srgbClr val="0F172A"/>
                </a:solidFill>
              </a:rPr>
              <a:t>Cybersecurity-ready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CF7C5-4901-4DCB-BBE8-381F880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718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8ECBC-D349-4DC7-994F-1393E0B8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38525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F172A"/>
                </a:solidFill>
              </a:defRPr>
            </a:pPr>
            <a:r>
              <a:rPr sz="975" b="1" i="0">
                <a:solidFill>
                  <a:srgbClr val="0F172A"/>
                </a:solidFill>
              </a:rPr>
              <a:t>Command-focused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398E2-E039-440B-8D4C-E638BCCA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3825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F0E55-0406-4014-A00E-9C30AB6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71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LAB COMMANDS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2AE5B-783E-4C0F-A523-E37AA11B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38300"/>
            <a:ext cx="30861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-a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iwconfig wlan0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nano /etc/resolv.conf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1E2DE-3472-47DF-8B97-7C606EE3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Goal: understand what the system is telling you before changing anything.</a:t>
            </a:r>
          </a:p>
        </p:txBody>
      </p:sp>
    </p:spTree>
    <p:extLst>
      <p:ext uri="{BB962C8B-B14F-4D97-AF65-F5344CB8AC3E}">
        <p14:creationId xmlns:p14="http://schemas.microsoft.com/office/powerpoint/2010/main" val="14074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AC014-04C4-4114-99CA-13EED88F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26757-D70A-44DF-8741-FF61E799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3D37D-D0E1-4DE9-9A72-7256B1B5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2DCA-4022-484E-B554-286001F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Unit 3 · Analyzing &amp; Managing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55193-009D-4578-95F4-C16E4623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B1A62-70A7-4C2B-9105-D48850E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Learning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A5EC1-5C8D-470D-897D-352C8A38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By the end, you can inspect, configure, and troubleshoot Linux network settings with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53E6F-1337-41E4-BDC2-67571C06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4BAE8-BA52-496A-869F-975281B0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E5176-A4F8-43DE-BE76-6483E09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 interfaces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E3231-9D66-4132-9940-4D77C03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Identify active/down interfaces, IPs, MAC addresses, MTU, packet counters, and flags.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9AC60-2A5F-4F3D-B4E0-D9FF17EF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90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B4482-FBB4-4182-800A-9FD532B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F9639-7DE3-447D-AD35-0A77240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Manage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3E5B-55C8-4CFE-A5B8-C7D9F83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81250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Bring interfaces up/down, assign IP/netmask/broadcast, request DHCP, and adjust MTU.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6D988-475B-4617-9BBF-8B21EBE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90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5BC69-B13B-4858-9310-9A4FB02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5D194-568C-4689-9C0A-8F7DFB45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Analyze wireless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343BF-9916-4723-9024-F7A6241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Understand SSID/ESSID, mode, frequency, access point, bit rate, tx power, encryption, and signal strength.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5A00C-A635-4CE6-B4C6-E7C9FC5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3190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99DAC-06BB-4B2C-A51D-4CA0206F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98B9B-6CD0-4BD7-A78B-AE2F0A0C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Investigate DNS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F6683-59A5-446A-8CA5-0DEE061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76750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 dig to query records and change DNS/name mapping through resolv.conf and hosts.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C62AE-D152-4530-A1E1-DE7EF405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3190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ECD7B-8447-4A74-A819-15F7D860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AD093-AB08-436A-B198-05898440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9575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Troubleshoot like a pro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68916-BA42-4B43-9F2E-82C5657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76750"/>
            <a:ext cx="2771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Move from interface state → addressing → gateway → DNS → application-level checks.</a:t>
            </a:r>
          </a:p>
        </p:txBody>
      </p:sp>
    </p:spTree>
    <p:extLst>
      <p:ext uri="{BB962C8B-B14F-4D97-AF65-F5344CB8AC3E}">
        <p14:creationId xmlns:p14="http://schemas.microsoft.com/office/powerpoint/2010/main" val="1776682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EE76E-3F69-4175-BBD3-195DD8BB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DA77D-022E-4656-971B-B2CCA646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B4C5-E915-4F46-BDCB-A9772356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FEC9F-1720-4CB4-855E-DF8B65B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Unit 3 · Analyzing &amp; Managing Networks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00300-AFCF-4968-9E47-195AA028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1BAC-EAC4-411B-9C10-C707537C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Network admin workflow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A659-8FD4-47C4-BF38-CDE6AA4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A strong hacker/admin follows a repeatable order instead of guessing randomly.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ECE8B-6969-41DE-B036-EEF0F285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057400" cy="23812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77C93-CC61-4204-9A26-B0BACCAE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888F8-12A9-4A3D-A45F-ABD49305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D3F7-F14C-4787-91EE-552956E2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676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Find interfaces and their names.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ED3CB-E2E4-4905-B175-AC8A4D4C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86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D262E-3274-4165-BE6B-F8279F50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2057400" cy="23812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C545B-1C65-4992-A94C-959EA01C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58FC4-58F2-4E7F-9942-AA087BF6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B3E52-3AC5-44DC-87BB-7B9C841A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1676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Check IP, MAC, flags, counters, and DNS.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4A2B2-2266-4F69-A6C8-A70BF20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86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59ECB-97EC-4F7D-BE60-1683A16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05000"/>
            <a:ext cx="2057400" cy="23812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AC73-DE0D-4F9B-9F8B-1BAD798F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ED0B4-995F-44E0-BCD2-8287BD7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3670B-B39A-4D7F-A1E0-34F86274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1676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Apply IP, MTU, DNS, wireless, or mode changes.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386CB-F863-4BB1-ABB2-D29C0F2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86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53198-71DA-485B-B7B3-6C791CC7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05000"/>
            <a:ext cx="2057400" cy="23812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D08A0-0D30-453A-AE0C-1A562332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601EC-DF2C-4C81-B5C1-98AABB53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78C33-C163-406D-B612-622862E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1676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Ping, dig, scan, or check counters again.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163A2-D0F1-4D4F-BD3A-FB6D4E3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86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33CB5-C920-463C-B34B-55DD7A70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2057400" cy="23812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66DDD-7121-4E2D-A23A-8FD97DB8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656B4B-E315-4F82-A2DC-8690E22C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9DD4EE-C595-4A9B-9746-263C7934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1676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Record commands and final working state.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8C7D7-7F95-4373-B299-9BD26BB4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Golden rule: first observe, then modify. Many network problems are solved by comparing “before” and “after” output.</a:t>
            </a:r>
          </a:p>
        </p:txBody>
      </p:sp>
    </p:spTree>
    <p:extLst>
      <p:ext uri="{BB962C8B-B14F-4D97-AF65-F5344CB8AC3E}">
        <p14:creationId xmlns:p14="http://schemas.microsoft.com/office/powerpoint/2010/main" val="998417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A16C4-D75F-4E0E-A15B-102EB23E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D417-DC2A-4E16-A74A-00C1962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F3B3A-3B47-43EB-9B53-88DA5F56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E7D8E-6F41-4ECA-BC05-4CF11F4F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1BDF-1D88-45C7-A383-87AEA78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E920F-1ACC-453E-A9F6-6DFC0C1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What is a network interface?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BCD95-99DE-4BE5-BD77-FA01EF5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An interface is the operating system’s connection point to a network.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5E409-DF6D-4736-9723-70FB13E1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C51AD-1EF3-4D8D-8496-49D141F0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762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23BEC-ECFF-4018-8356-589D742E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Physical interface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05A8-DBA0-4362-8E7A-D8856042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819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Real hardware: Ethernet card, Wi‑Fi adapter, USB network adapter.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D5D7-07B3-47D5-8512-AF0D95C4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08B89-65FA-4EC9-BFC2-A8420D7C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762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54597-D22B-432F-A073-8843A9DF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Virtual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6F516-7331-481F-AA6F-2CFE6D27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819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Created by software: Docker networks, VPN tunnels, virtual machines, bridges.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EAFF0-7D5B-41D9-A6F6-7E253D08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3238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FF3C0-CE97-4C64-9247-D5AABBA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762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1C3A5-4CA9-40A7-94E2-F92B4D1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Loopback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B7EE5-E224-4100-A49B-2AD3A70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819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Internal system interface used by the machine to talk to itself: 127.0.0.1.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458F5-15BD-4DB1-8547-AE6A68B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1DB4E-6422-4538-8EC4-5BAEA49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START HERE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6F1C1-D215-4C44-8383-2BA5B80B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95800"/>
            <a:ext cx="784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-a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ip link show</a:t>
            </a:r>
          </a:p>
        </p:txBody>
      </p:sp>
    </p:spTree>
    <p:extLst>
      <p:ext uri="{BB962C8B-B14F-4D97-AF65-F5344CB8AC3E}">
        <p14:creationId xmlns:p14="http://schemas.microsoft.com/office/powerpoint/2010/main" val="1749129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F3CA6-DA25-4F29-8D65-350C6F2D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ABA68-E159-4B97-BB85-01BA6BCF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2ACF5-4850-4BCF-8E5C-A2E3C96C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C682A-CE78-4F2D-8248-A803EF2D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ifconfig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3F06-9B8E-4C5C-97F9-93DDEA30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35606-5FED-4565-A202-C84274B0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Analyzing networks with ifconfig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B8117-094B-4549-8CF8-FC52D7A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ifconfig means interface configuration: view, enable, disable, and configure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F366C-653A-4633-959E-E3258F9B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81568-4970-4B87-BD9B-9B02BA1A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Syntax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7CDC2-6CB6-4A2B-BBB2-53D22BA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66875"/>
            <a:ext cx="7143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8D5EB-D9C7-475D-ADBC-B5713CA3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0225"/>
            <a:ext cx="691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2BE1E-8C00-44B9-BE0C-12C2AF0E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93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7F3A5-7175-41F4-AB10-D5B7C6A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ifconfig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B66D7-DA70-4951-BBE6-A3B27853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193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077E1-815E-41DA-BFFD-78FD9A4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Shows active interfaces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1F85F-282E-4F30-9158-0727ADAE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86785-CA93-40C8-87B7-BC59AC6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ifconfig -a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F93A3-DA96-460D-ADF5-D6EBC3C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717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1BE55-B7B1-47FB-B2EE-786071D6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8607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Shows all interfaces, including down/disabled 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5B04F-2F4B-4339-8F38-5202AB94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6E610-6CE9-4D1A-8D52-BA1E7AB8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ifconfig eth0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54953-A436-4084-BE90-A6DD553F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242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60671-B8CC-4464-8892-8572149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52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Shows details for one interface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4BED3-54D5-43C4-ADED-D8025B3B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A6578-2158-43A1-92F3-5E16956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ifconfig eth0 [options]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8A404-48EE-41B7-8E12-6F3DB43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7667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E1ABD-F0D9-491A-9C2F-5FCC19F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9097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Changes settings on a selected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383EB-F407-49CD-A4D7-DBA0F68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CE3A4-7558-486F-AA6B-0E9EDD05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ifconfig eth0 192.168.1.50 netmask 255.255.255.0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077907-44BC-4031-8A2C-8B5FD620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29125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D4A5A-4D04-4398-B5E2-9123F4C7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43425"/>
            <a:ext cx="691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Assigns IPv4 + netmask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3CC2D2-80C7-481F-9417-65C152C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7B4C8"/>
                </a:solidFill>
              </a:defRPr>
            </a:pPr>
            <a:r>
              <a:rPr sz="1350" b="0" i="0">
                <a:solidFill>
                  <a:srgbClr val="A7B4C8"/>
                </a:solidFill>
              </a:rPr>
              <a:t>Modern Linux often prefers the `ip` command, but ifconfig is still heavily used in older books, Kali tutorials, and many labs.</a:t>
            </a:r>
          </a:p>
        </p:txBody>
      </p:sp>
    </p:spTree>
    <p:extLst>
      <p:ext uri="{BB962C8B-B14F-4D97-AF65-F5344CB8AC3E}">
        <p14:creationId xmlns:p14="http://schemas.microsoft.com/office/powerpoint/2010/main" val="6093068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0280C-BE85-49EE-A47D-89516175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B7332-F53A-4E95-BCC9-B2B86C6C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7CE37-5FC7-4B75-B3F4-FE55991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88155-2817-4791-9FD4-8C1A74C2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Interface names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9A5D9-4675-41FF-BAA7-BCCD2F16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7222B-1025-4079-A92D-E6EB84B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Understanding network interface names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154EE-7583-4AFB-B744-3144A879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Names tell you what kind of connection you are inspecting.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36F00-9426-4616-A907-796BABB7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2860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C7511-5F05-4FBD-B89A-F9E9B45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9C88A-462C-4493-B2F4-00DAC1C3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807720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E0802-34D5-4BEE-93B5-9BEB90C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784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Meaning / common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4F4B3-D7E4-440D-9F3C-E6F0F2DD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0C58E-0743-47B3-9A1B-21BC422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E918E-9135-4B5E-BF08-6BDC6AD8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65595-B537-460F-BB3D-4B27E3F7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Loopback: your own system, commonly 127.0.0.1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589C2-79CC-489F-BF49-57D7067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5D62E-C382-4112-93D0-0EE6A7A5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eth0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D8FA7-4EFD-4840-AA3C-E2BFD4CF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2C309-708E-4CDF-9595-AE15EEA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First Ethernet interface; classic naming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10156-B096-41DF-9C11-9DF45C7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24088-4814-4144-B484-99AA682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wlan0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D9BA7-8DFE-4151-B9FF-C3927F42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DF437-540B-421B-8977-29E1F3D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6705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Wireless interface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CF8CF-B328-4D2F-B23E-21EC28C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ECD8E-CA2C-4D34-9FA9-289DD1C1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enp0s3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5192F-6AAA-41F8-9BCF-FF07EBE0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A6929-7C06-49D8-BEB5-0EABE519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Ethernet interface; newer predictable Linux naming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3F588-052E-42FF-9CE1-9C3A0144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63358-2799-4243-9E34-6EC037D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ens33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3C483D-D430-43E7-AC29-8439FE8F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088A1-6411-4C3C-A82A-1BCD5A46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Common VMware Ethernet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65F3C1-BE11-440E-A983-1298DF8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B70B3-BD28-420C-BA21-D37325BE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docker0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C0D8EC-8512-4594-81A6-F9011B7A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150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DFEBD8-413A-40DF-A9B9-82D3B37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9580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Docker virtual bridge network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3F5042-9628-44B0-8B7F-7138E104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CC9DF-FA4E-4B66-AFA0-A19FC19B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tun0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636778-6AF3-4CAF-8F6F-393E559E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775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016CE5-E229-43E4-AA9F-60999691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7205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VPN tunnel interface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B12E85-8691-47ED-BA90-D96B85A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4F27D7-D4CF-4A72-B286-F9D5407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virbr0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0507C-782B-467C-ADA6-0E5A1CC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34000"/>
            <a:ext cx="8077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13172B-1DAA-4695-AD4A-506B7138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48300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Virtual bridge used by virtualization tools</a:t>
            </a:r>
          </a:p>
        </p:txBody>
      </p:sp>
    </p:spTree>
    <p:extLst>
      <p:ext uri="{BB962C8B-B14F-4D97-AF65-F5344CB8AC3E}">
        <p14:creationId xmlns:p14="http://schemas.microsoft.com/office/powerpoint/2010/main" val="823727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6E1CC-B269-405B-8153-2BB4EA94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8FA44-02A8-4190-9733-A150492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60380-DDD2-4111-AEB0-F974E34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17288-B7EC-4E33-AA5D-B7AAE877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Interface flags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9BA69-EA95-4FF8-B265-DBDB4A5F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AD73-7EBF-421A-A745-E4C1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Flags show interface state and capabilities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F1BB0-D312-4200-B7D4-6FC8ACD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Flags are quick status labels in ifconfig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F82FA-587C-44C0-A17C-46B6392C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289DB-5CD8-4CBA-BF5A-D06DBBF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3A859-DE54-4269-A96A-6EDCB9E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EEA0F-C85A-4B70-A426-39955FE4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Interface is enabled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4782C-8CA9-4606-999B-99CD2425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E2410-3194-4F1D-A2B1-7003936C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D4BA8-219F-45C8-B3BB-BF090DFB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CCDB9-CD50-4DED-9C7B-040E2823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Interface is disabled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276C0-1046-44DE-AC64-01F06BE4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382E5-CCCF-4108-8451-7CDE2700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767B9-1122-4FC6-B74F-F5684760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RUNNING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3C518-898D-47C6-A9BA-AEE5801F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Active link/connection exists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FF6DB-DE1A-4407-89FF-89BD5127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06C7C-C00F-4C0A-AAD4-6D02108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B5EBC-5434-4029-A81D-3BC81341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BROADCAST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87112-884B-4E8F-9ED7-CD5EE22E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Supports broadcast communication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52F98-5B63-4020-96AB-88D2266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CCCAA-84DD-4135-8514-B08FFE2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09F50-7F5B-4A13-891B-72046345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LOOPBACK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C47F20-27EA-4589-9576-8772CFEA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Internal system interface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E01C6-38ED-4819-9209-82C97A29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135DC-CA2B-4BDE-8148-9B12549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29AF18-A5D2-4A8D-B0F2-6897C3F1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MULTICAST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AC43B-F169-499D-AA04-3E1613ED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0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Supports multicast communication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C9B5B4-A171-472E-98AE-13888FB3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B3B537-CBEB-434B-A092-25C99D6F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836DE-09E9-4304-A632-FDF4CE7D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PROMISC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DB59F9-E851-4EE4-9112-0B8E36F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Promiscuous mode enabled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A651EA-F86F-4D3D-9D91-C9AE40A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8C46F4-5553-445D-B7F7-51A7741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908AED-4A5E-4AE3-BF15-1B394244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POINTOPOINT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518EE0-8FF6-4B93-B4B1-AC67D7C7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Point-to-point link, common in VPN/PPP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1469B1-0D11-4AF2-B365-D98B32F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Tip: PROMISC is important in packet capture labs because the adapter accepts packets not directly addressed to its own MAC.</a:t>
            </a:r>
          </a:p>
        </p:txBody>
      </p:sp>
    </p:spTree>
    <p:extLst>
      <p:ext uri="{BB962C8B-B14F-4D97-AF65-F5344CB8AC3E}">
        <p14:creationId xmlns:p14="http://schemas.microsoft.com/office/powerpoint/2010/main" val="2110358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AB24B-B255-4AD9-8CC6-F51B8DD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5DE12-0790-482C-BD30-55284306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309B9-20FD-4C1B-9D07-489D3C66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C54FC-1D20-487B-87AF-447A284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MTU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37070-CCBF-4B25-A4CE-0E30B0C8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A4F7A-8FE9-4B0A-B54A-2192B8AA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MTU: Maximum Transmission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AE81-931F-4D48-B970-00028F9E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MTU is the largest packet/frame payload an interface can send without fragmentation.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3F37B-EE95-4E58-B1F8-1162A8F4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952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190FF-2B49-4B32-BBA9-EAF7A326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58D75-5229-4BA2-9DA8-EE6E59E8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431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Standard Ethernet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7ED33-AD68-41CF-B174-24791743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24125"/>
            <a:ext cx="2533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MTU 1500</a:t>
            </a:r>
          </a:p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Most common default for LANs and home networks.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452E9-4C50-4D24-8BC3-193F007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52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49E60-B726-4187-BA03-0BC82DBF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43463-2CE9-426C-9647-4212E02F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431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Jumbo 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C9818-2972-4001-9B0A-7B593B1C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24125"/>
            <a:ext cx="2533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MTU 9000</a:t>
            </a:r>
          </a:p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Used in controlled high-performance networks where all devices support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BEBD5-3379-49CC-9A72-F54C986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9527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3059C-018C-4AEC-AB23-0EF14FD7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CB9D1-2492-4A6C-90D0-C23754F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431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VPN / tunnel networks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CEB08-B51B-4F28-A51C-5A022EB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533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1400 or lower</a:t>
            </a:r>
          </a:p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Extra tunnel headers reduce available payload size.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327C5-0607-45BC-BC8F-C1B07A6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29125"/>
            <a:ext cx="8382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8E407-4D83-4DB8-A861-47FBBFD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62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CHECK &amp;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AFB1D-C893-446B-9211-57DCFA57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29175"/>
            <a:ext cx="803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eth0 | grep mtu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ifconfig eth0 mtu 1400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519E2-4A9D-4A48-A2BA-1240960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Why it matters: MTU mismatch can cause slow loading, broken VPNs, and packet fragmentation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786178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B2D1F-B479-42E4-9BA1-D138C2C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6B671-4E54-4E5A-8F66-891E9095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68303-7B76-432F-A593-CCF5DBE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E2EAB-DD2E-41E1-ACBB-F66EE650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IPv4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96406-990D-4F32-9563-5FDCE89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05838-0ADB-4352-8DC6-9581DBD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IPv4 address + netmask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176A-D94D-4B0E-B384-ADAB6E8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The IP identifies a host; the netmask decides which part is the network.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6B5DA-7398-484D-A739-E4F7D04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F9A13-904C-4BF8-BFF4-EF860E25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057-E076-43CD-9F4E-118302A5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8006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IP address : 192.168.1.25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Netmask    : 255.255.255.0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Network    : 192.168.1.0/24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Host range : 192.168.1.1 – 192.168.1.254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BD077-FF1F-4A06-B36E-8CF0E5BE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286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9DA61-16AE-4C2B-9BF3-BDA765A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E7A0E-174F-4345-A893-FC2D54EA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Network portion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7AD25-5CEE-491D-AD77-BE87DB3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For 192.168.1.25/24, the 192.168.1 part identifies the local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F8B57-05B6-45C9-8232-21CC5E3A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286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7FEA2-937F-44D5-BF1F-87F98DF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8E012-78F5-4591-A148-F867DDE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Host portion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3CB06-7F9E-452E-B0C7-9C73858E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The final number, 25, identifies a specific device inside that network.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9BC1-CE27-49E8-99D0-39EDF82C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286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0B18C-9B85-48F5-AF34-B68B63F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2D7F2-4BF5-4A2A-BDAC-F90E5BBB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169.254.x.x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C7EFA-D190-4DD5-B3DC-46784185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Usually means DHCP failed and Linux assigned a link-local address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14972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9D7A4-B1BA-43A1-8904-653A346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65985-5BFB-4C91-A068-C899D635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DEB3E-9E47-4F50-94BC-869A7115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B527A-5C15-4934-AEC4-68D09330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Addresses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8F30B-5B65-4BE5-AB42-7AB75255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0B703-295A-4FC7-A6E3-6A56C9A3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Broadcast address and MAC address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F4EAB-E6B0-4E78-AE04-1CB1864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Both appear in interface output, but they solve different problems.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0D6F1-F326-4C02-A23E-80A33C0B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683CA-ECCF-49B7-B509-FF8DF81B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4EA1F-4148-44FC-8A63-1BA311A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Broadcast address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9FA0E-23C8-4737-AD64-C6EE168D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343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Used to send a message to all devices in the local subnet. Example: 192.168.1.255 for 192.168.1.0/24.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3B723-893A-41C6-B39F-3A5517A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47AD-663B-445F-B9ED-A1DEA923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9CC46-C56B-407B-9776-2404CE6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002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MAC address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FCE6D4-8C99-4BFA-95E0-DDA5930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4343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Physical hardware address of a network interface. Example format: 08:00:27:ab:cd:ef.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9DBFD-1444-436F-8633-7B763A5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38625"/>
            <a:ext cx="2286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DD42D-C62C-46D2-AD1C-05D2556F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719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Address 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011E8-1596-4864-95A7-70EEAF75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2381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2C78F-1B8A-48C6-AA9F-50855A3D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71975"/>
            <a:ext cx="2152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22FC3-1849-4DA4-B54D-7F4DA268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4286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036F1-DFFF-4660-A920-6FBFC919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1975"/>
            <a:ext cx="405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Main 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BBA61-FC00-46D5-B09C-6C5D4A66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958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525F0-A07B-4525-807B-79E4F68A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01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IPv4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5B2765-F0C2-40AB-8F4E-DDA7FD02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F322B-34FA-4D24-AB89-9458D30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01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Network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D9B38-3308-4207-B785-2B3E1438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9582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6732F-881D-4D1A-979F-BFE480B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Reach a host across networks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53FF7-1E72-458D-9E51-0AB4DDEC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82833-5603-4F09-8F4A-834D4ED8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673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MAC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71EC46-05BC-4C07-832E-1DFB0AC9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530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4B58D-86E7-4C3B-8478-A1827CE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673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Data link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2F22E-6F16-4045-B6DD-E1F6C26D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D846D-C7A9-495C-852B-5207964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Identify a device on the local network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07B32-4348-4F4E-AA1A-AA2C77EE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0225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C4EF4-FA0D-458B-9C07-3AB3FE6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245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Broadcast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E27CEE-5DF0-4AD0-85A5-A0037309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022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F4375F-48D3-47C6-9E9B-6B648C2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245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Local network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97B412-BFBB-4180-BF0B-6F43198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0225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37BA67-DB01-4E5B-B340-EF9785C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24525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Reach every host in the subnet</a:t>
            </a:r>
          </a:p>
        </p:txBody>
      </p:sp>
    </p:spTree>
    <p:extLst>
      <p:ext uri="{BB962C8B-B14F-4D97-AF65-F5344CB8AC3E}">
        <p14:creationId xmlns:p14="http://schemas.microsoft.com/office/powerpoint/2010/main" val="1353312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B955B-3233-4498-8DCE-6090755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8AED-5E5F-4D57-874B-9EAC77F6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13BAA-9F59-4A46-A9D9-32D10CC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A811-E5DB-43F0-AF30-4AC255B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Counters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398C5-FFB4-4505-AA1F-FB7E6101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DA6F5-0CB5-4DF0-92E5-91B478F5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RX/TX packets, errors, and dropped packets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80C91-86AA-4CDE-915E-AB150E2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Interface counters expose traffic and possible link problems.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D813D-0A2B-407B-9F58-F6C6AE12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4F59-62FB-4D6B-890C-D2C3011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F2B89-160B-4E9A-87A1-929F6A3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573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RX packets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0C609-5CE2-40C0-8988-571F9388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Received packets. If this increases, your system is receiving network traffic.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46E7-9035-4B54-B764-5A09EFC0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66875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460A7-9D73-45B9-BB83-1E0B9E0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668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6D00F-21F0-4D97-96DA-7A92224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TX packets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73D11-616F-48C9-8E46-CF80F4B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Transmitted packets. If this increases, your system is sending network traffic.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406D4-A743-4FD2-904D-F2372B7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D316A-7EB1-4BF2-8D60-B42E7C49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E9E5D-2F0F-440C-A010-F43DA337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573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Errors/dropped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B9E29-F7A8-4521-8729-018220D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Can indicate bad cable, congestion, driver issues, MTU mismatch, or hardware problems.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0E31C-6F2F-4907-BE74-C21CE39E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24250"/>
            <a:ext cx="8191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F214D-5C7F-4AFA-B21C-2EA8E3F3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HEALTHY EXAMPLE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548A9-EEC2-4463-B4A2-CB86C844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24300"/>
            <a:ext cx="784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RX packets 10500  errors 0  dropped 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TX packets 8630   errors 0  dropped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F1E56-368A-4CB6-9B32-F734DB8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• If RX increases: receiving traffic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• If TX increases: sending traffic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• If errors/dropped increase continuously: investigate link quality</a:t>
            </a:r>
          </a:p>
        </p:txBody>
      </p:sp>
    </p:spTree>
    <p:extLst>
      <p:ext uri="{BB962C8B-B14F-4D97-AF65-F5344CB8AC3E}">
        <p14:creationId xmlns:p14="http://schemas.microsoft.com/office/powerpoint/2010/main" val="862332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325C3-948D-4BC3-9637-D60E593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92F7D-972F-4E2E-8A9A-0C244476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0F2A0-E082-4649-B054-46F3B2A7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AF663-1D74-49A4-B10C-92465C14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ifconfig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18349-502B-4997-9F91-59C575C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2BFBE-4ECF-41D5-85B6-AA5BD7D3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Essential ifconfig inspection 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2DA0A-2E5B-4D89-942A-9F3BDAB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 these before changing network settings.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E3AF-3863-4192-8F90-0EB5D97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10096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80460-8577-472D-8D65-F4628C79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READ-ONLY COMMANDS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1431B-6E0A-44DF-BEB1-3C27807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97536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                 # active interfaces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-a               # all interfaces, including down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eth0             # one interface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-s               # short summary view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-v               # verbose info, useful for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905B1-6795-4CD4-9D26-949189F0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23488-5479-49A0-BAA7-04544BDF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0CEF5-7AD1-402B-8F0D-2C60FC3E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672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Beginner habit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C13E4-F315-46E3-BD0F-2D7CE3F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48250"/>
            <a:ext cx="739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Save output before changing anything:</a:t>
            </a:r>
          </a:p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ifconfig -a &gt; before-network.txt</a:t>
            </a:r>
          </a:p>
        </p:txBody>
      </p:sp>
    </p:spTree>
    <p:extLst>
      <p:ext uri="{BB962C8B-B14F-4D97-AF65-F5344CB8AC3E}">
        <p14:creationId xmlns:p14="http://schemas.microsoft.com/office/powerpoint/2010/main" val="962787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B94A4-9645-4817-B43F-A74B9D2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D07F-4FCA-4501-9454-427AAD2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63A1F-108C-4800-94FB-7141A82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490BD-CF19-4145-804D-A77C7E08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ifconfig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C0364-8A4F-4CDE-A9DB-C2705BF2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3E828-51BD-466C-8CC8-D1CA1516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Enable, disable, and assign IP addresses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66C31-4C72-49EB-9099-4EECC712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These commands modify interface state and addressing.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51658-26C6-4909-8878-561F1D9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10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97DBB-AAE4-490F-8C55-2723F37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INTERFACE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C9F31-690D-4D1C-A789-5E910DD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04679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ifconfig eth0 up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ifconfig eth0 down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ifconfig eth0 192.168.1.50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ifconfig eth0 192.168.1.50 netmask 255.255.255.0 broadcast 192.168.1.255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5C752-454D-436F-9A81-A17FCBBC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857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C7B1D-B746-45AE-8AE7-A9A7E94C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81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60FD7-DC4C-42C6-BE2A-A1002E8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ED85E-01B3-41EE-B079-6B0880F0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815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Temporary changes may reset after reboot or NetworkManager restart. For permanent setup, use your distro’s network configuration method.</a:t>
            </a:r>
          </a:p>
        </p:txBody>
      </p:sp>
    </p:spTree>
    <p:extLst>
      <p:ext uri="{BB962C8B-B14F-4D97-AF65-F5344CB8AC3E}">
        <p14:creationId xmlns:p14="http://schemas.microsoft.com/office/powerpoint/2010/main" val="12867216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4A87C-938D-4DFF-9E8B-9F64A872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FB93A-7962-4BC6-BD87-B90CC7FB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2F377-77F2-4B17-8A4F-3E0B733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02C06-43C5-47F2-889C-4F598720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DHCP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B346F-0190-4BA2-86BB-749478C1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FD141-D831-4861-AACA-CCF9F5C3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Assigning IP from DHCP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39F77-9AFC-4C8A-92DC-A2ED1BDB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DHCP automatically gives your system an IP address, gateway, DNS, and other network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8E28D-DD12-4892-8E32-3B5B4B5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95300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EF81F-5789-4452-AEC0-F0A62753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DHCP +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9AC13-1141-4837-AA4D-735B9E20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6101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dhclient eth0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eth0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ping -c 4 192.168.1.1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ping -c 4 8.8.8.8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F6330-6B75-420A-9BCB-A2C6E323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16002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50A84-9DA0-490C-9A13-A00CCD71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45F6A-456C-44AD-9D16-32F8D38F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574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4C6D5-16EC-4EE4-A76F-67676D00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121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dhclient asks the DHCP server for a 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86778-7649-451C-B916-8D9DA89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89111-28A8-4CC5-804C-C07DD2A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62125"/>
            <a:ext cx="16002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65AA0-B33A-46BF-98F2-0C03A196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145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3680C-A94C-4120-BC8C-86734B2F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574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Receive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FBF8A-1533-45F9-BA32-D156475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121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System receives IP, netmask, gateway, DNS.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F62D2-4FED-436F-A18F-3DC11AE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1E70E-CF6D-44E4-B246-387A549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62125"/>
            <a:ext cx="16002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4FD05-F67F-4638-9FC3-1693981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45C6AF-329B-43FE-B0BD-60036FD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57425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B3841-85F3-4B81-9E30-B3B6E7B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19375"/>
            <a:ext cx="1219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Ping gateway, internet IP, then DNS name.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636E8-3B9D-4591-9203-868BCAC5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If you get 169.254.x.x, DHCP probably failed. Check cable/Wi‑Fi, DHCP server, adapter state, and logs.</a:t>
            </a:r>
          </a:p>
        </p:txBody>
      </p:sp>
    </p:spTree>
    <p:extLst>
      <p:ext uri="{BB962C8B-B14F-4D97-AF65-F5344CB8AC3E}">
        <p14:creationId xmlns:p14="http://schemas.microsoft.com/office/powerpoint/2010/main" val="200408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D580EC-F7C3-49CF-B3E0-BF07736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8FF42-A5EF-4FB8-8749-BD8C993F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7890E-5FE8-46D4-8B56-42363D2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AEE9B-D772-4605-8539-3BE36C1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Advanced interface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B10FA-60B9-4BFC-AA78-7B76EDA5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380EA-342C-47FD-9FAE-3961B023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ARP, promiscuous mode, multicast, and MAC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802D9-654E-431E-843E-AEB36E7A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Useful in labs, packet capture, virtualization, and troubleshooting.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D574C-E4D7-4EFF-9127-6328542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57162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90FC2-0E51-45E1-85B0-8C82628E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134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4CD8A-C4D2-4A1F-95CD-79D495A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433387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9CEA-A9B2-4551-B02A-1C7E497A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704975"/>
            <a:ext cx="4105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Command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C4DF6-A844-4A5F-B73F-A406AD0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53000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DEA2D-D565-45E2-B468-8CA072F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04975"/>
            <a:ext cx="472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D9D06-B6CD-4F7C-9863-210E5E9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F9588-208D-473E-B991-DED9354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ARP on/off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B9B60-11EB-4894-B4DB-E7CB0209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43125"/>
            <a:ext cx="4333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368BB-2450-4DBC-9C43-2BB2AF1B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5742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arp / -arp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73A96-F9B0-49C0-8FCA-1E406EE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FD0F1-5375-470E-A397-CB27B1C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574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Maps IP addresses to MAC addresses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E7A5C-9F15-4063-B9D1-65AF9F5E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D4D62-89D8-4D59-A2F9-785E14B5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Promiscuous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3A317-E8CC-48AD-A257-C9BAD1B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4333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C0365-54B4-49E0-8297-2B4C0E3F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2892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promisc / -promisc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D8837-F3B8-4A2B-AF25-885BF82C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BD5D90-9A92-4514-A699-61EA31C6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289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Receive all visible frames for packet capture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78E62-0631-4337-96EF-A0F3B57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E9484-7398-40E0-AAC4-A42ED05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Multicast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EE24F-1346-446B-9558-A56EF9C3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86125"/>
            <a:ext cx="4333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274C9-BDA5-45FE-B5A7-A70C28C7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40042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multicast / -multicast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49394-1A0E-4AD2-AC88-CFC9664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EE92C9-AD02-4E4B-ABEC-391F5B0E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Control multicast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0FBCBC-B8D1-40E9-92DA-FBD1E08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0118C-C413-4B5E-88C3-887774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MAC change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8869A-DFB5-4D0F-B423-BC2327B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57625"/>
            <a:ext cx="4333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1E9310-72D0-487F-98D6-65CB581E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7192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ifconfig eth0 hw ether 00:11:22:33:44:55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279F9-C633-4A4F-8D74-B058B4AD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203A3-A56A-4A16-A0C6-8E25FAE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719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Spoof MAC in an authorized lab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7FF9FE-A4FF-469D-8163-697DA0B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4CE82C-E845-4E4A-B321-ABA6F4D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TX queue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560513-F7C2-4EC6-A580-A0E3812D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29125"/>
            <a:ext cx="4333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BE3F4-B146-4D16-8709-E4530B8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543425"/>
            <a:ext cx="410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txqueuelen 1000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19C9BD-506F-40EB-ABE1-C3B7D50F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29125"/>
            <a:ext cx="495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7751D0-58B3-4D2D-8C91-56F20E9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434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Set transmit queue length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453EEF-7807-4DBB-A0B8-2A414DD1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Ethics note: only change MAC/promiscuous settings on your own systems or authorized lab networks.</a:t>
            </a:r>
          </a:p>
        </p:txBody>
      </p:sp>
    </p:spTree>
    <p:extLst>
      <p:ext uri="{BB962C8B-B14F-4D97-AF65-F5344CB8AC3E}">
        <p14:creationId xmlns:p14="http://schemas.microsoft.com/office/powerpoint/2010/main" val="11808322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127A3-74BE-4A78-9706-452BAC52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B75B0-0693-48FE-942E-9CA41FD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716AC-6795-4612-AD16-49F8E4D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43C83-AF83-4753-8E97-F885500F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Wireless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F1694-4D28-46CF-89D1-1308E34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3C29D-8A4F-4E5D-99E6-D40B6E2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Checking wireless devices with iwconfig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10F8D-0061-410F-962E-26D0A254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iwconfig is used to view and configure wireless network interfaces.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F019-FFC4-42F2-8AA1-CF0A02A2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75D94-90BD-449B-B0D2-356520C4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4954-3637-4A36-82BF-F759235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What it shows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890A3-0402-445F-83B4-A66F0FA7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4533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SSID/ESSID, mode, frequency/channel, access point, bit rate, tx power, encryption, power management, and signal strength.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43ADF-C3D2-4831-9705-F0543A7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9530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F7F59-5802-425D-B7A5-1AC59C38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1FF61-F80D-4931-A3B0-034D5AF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Modern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3A2A0-59BC-4118-9DA9-31B258B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5339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Many modern Linux systems prefer `iw`, but `iwconfig` is still common in beginner networking and Kali learning materials.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64E18-1304-41B3-A32B-04786096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33875"/>
            <a:ext cx="7429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FF0D6-92A6-4237-AA08-7541EBFB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67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WIRELESS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F0D91-AA82-4518-9683-8EEC5E3C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33925"/>
            <a:ext cx="708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iwconfig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iwconfig wlan0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ip link show</a:t>
            </a:r>
          </a:p>
        </p:txBody>
      </p:sp>
    </p:spTree>
    <p:extLst>
      <p:ext uri="{BB962C8B-B14F-4D97-AF65-F5344CB8AC3E}">
        <p14:creationId xmlns:p14="http://schemas.microsoft.com/office/powerpoint/2010/main" val="11824674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5F3BA-404B-4A9F-924B-177BC04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B71CC-D0DE-4AFC-97C9-9644D4ED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2BCE1-D6B5-4FE6-807B-5545A46D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45534-3FD0-42D7-8DA2-75343D31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Wireless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71D73-64E8-47A9-A4B2-F3458E62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989B6-EBE5-4455-AED0-FC351CB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Important iwconfig output fields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79D90-1EC3-4246-9A9B-04AF0E40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These values explain how the Wi‑Fi connection behaves.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819D4-2CC3-47F5-ABCC-6CCCEF16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2476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71364-9F4D-423D-B887-41EBB09B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2F71E-739B-4A6F-8601-115693D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33500"/>
            <a:ext cx="8382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7484-57F6-46A7-8ECF-719F04D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815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777D8-99F9-4921-BAE8-74BBF8AE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36CFB-DEA8-42A4-B497-3525C5CD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wlan0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12A9F-FBB4-4E5F-A3AD-F1AC114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907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5513F-C179-44B1-8E6E-87A879D7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050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Wireless network interface name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FBAE3-96F4-43B1-9FB2-72988357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D74BE-7478-49FF-ABB1-AFECBFC9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IEEE 802.11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2A347-60C1-4C5C-852F-A36E47F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4E184-160E-4B73-822A-62BFBF5D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Wi‑Fi standard/family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8200C-9CB9-420E-B8CA-2796C1E5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0E9D4-3380-45A1-9B29-68C3586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ESSID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B31DB-FCF8-474B-81DB-77654EA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051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A1500-0FEC-4CF8-9856-E282393E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194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Wi‑Fi network name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18D6F-0665-415E-98FE-A0890B9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748C5-5FB2-43FA-98EE-CC57F6B4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30DE5-5E78-4AB0-A748-A95F158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4B0F2-C468-49D8-9DEF-4591352B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Managed, Monitor, Ad‑Hoc, Master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EC8EC-5CF7-478F-BEC0-11900C33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9D0AD-86EF-4593-84EB-8E53515D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Frequency /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4F496-F024-4841-9201-1263593F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088D67-4645-4AAB-96DF-EDC5020B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2.4 GHz, 5 GHz, 6 GHz or channel number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A2740C-7FCE-4388-BCEA-4009126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35878-C012-45A3-BE2F-BB9C168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Access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C5063A-EF4C-47ED-937B-C8A4AEC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C20A6C-A304-43EF-ABFD-F5005BE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910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MAC address of connected router/AP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6BEC45-AFC5-49DC-A319-887D70C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1CCF3A-BC27-4C2E-9B48-BC2E2CEB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Bit 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80565C-C4D2-4098-A3BE-9113B3C1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8D7C36-7C39-420E-BC3B-9BE91FE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482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Current wireless link speed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B9C03-1C55-49E4-95E5-B532EFF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286EAC-AF9C-4DFB-8ED7-CDE4C88B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Tx-Power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88D1CB-FBD7-42FD-B851-F0EB8F3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416785-D58A-48F5-BC58-780AE56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054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Wireless transmit power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D7C5FD-0BCB-455F-988E-B124D9A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577866-DEEC-402F-974D-C573B2BA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Encryption key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3DD8A0-D0A9-49DA-A170-6357BAAE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483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CCFCE8-4A6D-496E-958D-8A3572AB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626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Whether Wi‑Fi encryption is enabled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B4729D-2077-47A9-A285-61D81A94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778084-4DD1-4131-B195-06190E6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Power Management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631259-E03E-49E2-8A91-4CEA3EE4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C1E713-8116-46A7-9F7B-679E57E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0198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Battery-saving feature; can sometimes slow Wi‑Fi</a:t>
            </a:r>
          </a:p>
        </p:txBody>
      </p:sp>
    </p:spTree>
    <p:extLst>
      <p:ext uri="{BB962C8B-B14F-4D97-AF65-F5344CB8AC3E}">
        <p14:creationId xmlns:p14="http://schemas.microsoft.com/office/powerpoint/2010/main" val="20630372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C3425-88A7-43CB-966F-13D36619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60CE0-3A35-4662-AF95-032926DC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80E74-F22A-48D8-8909-16183890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9E3B0-662D-4287-9747-9C74565E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Wireless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A23D6-4DFC-4E43-9F0C-F92EC0D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E364A-989F-445C-97B2-05AE73D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Practical iwconfig commands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DAE16-299D-42B8-9609-42EE06EF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Commands from your notes, organized for real lab use.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D0BF-4661-4F64-B243-FE7D186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9BA40-89C2-4053-9FBE-F31B57F4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SET WIRELESS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5EFD3-991F-46E3-9C25-12D85380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6419850" cy="279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mode managed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essid "Home_WiFi"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channel 6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freq 2.437G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rate 54M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txpower 20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iwconfig wlan0 power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665D6-26A5-4D4E-82FC-170868A1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714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95472-537E-4564-878C-8F125C98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MONITOR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57D09-480C-4311-B208-C2D2EB9B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33718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iwconfig wlan0 | grep -i signal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watch -n 1 iwconfig wlan0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iwlist wlan0 scan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iwlist wlan0 scan | grep ESSID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4456D-7CE9-4E6E-BFBC-B3A556D7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Tip: signal strength is often shown in negative dBm. Closer to 0 is better; for example, −35 dBm is stronger than −75 dBm.</a:t>
            </a:r>
          </a:p>
        </p:txBody>
      </p:sp>
    </p:spTree>
    <p:extLst>
      <p:ext uri="{BB962C8B-B14F-4D97-AF65-F5344CB8AC3E}">
        <p14:creationId xmlns:p14="http://schemas.microsoft.com/office/powerpoint/2010/main" val="890625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C1BE6B-CFB5-4918-A85F-CC0E7A6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87C07-08C0-4AB3-AD16-53CCAF53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FDD16-C13A-4208-ACE6-85495D21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2714C-89A8-49DC-ABFE-B7225BC8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4F49-C8B1-43BE-B4DC-048485B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BE435-5C8E-4B0D-A5AB-1522AB8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Manipulating the Domain Name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67440-1AFD-4A0A-803E-DCA11700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DNS translates human-readable names into machine-readable IP addresses.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8C25-7E28-4583-975C-66894BB0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586038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12943-2ECA-4E66-9D12-7A5FE9B6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935DE-FA94-49A6-949E-5DCE163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You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B2FB9-BF47-4BE5-9E80-EAD382B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20503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example.com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55E29-CE6B-4BF6-8C76-F5C3D19B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2671763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1CDFB-B49D-453E-9E24-9AB0DF3A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05000"/>
            <a:ext cx="2586038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8C41C-06B4-4D61-A2DA-FF0DEB6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6F491-D804-4096-8F03-F214AE3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400300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DNS resolves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FEAE2-3FEB-4742-A1C7-29F04AA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762250"/>
            <a:ext cx="220503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Finds the matching IP address.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FCCB7-63DA-482B-B7CA-9DC231DA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71763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ECD16-7554-4A5D-A334-10E89F6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05000"/>
            <a:ext cx="2586038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931CF-52A2-45DE-9F83-769434D2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D0D72-3EAD-46A8-85AD-396EEB6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00300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System connects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24FA3-74D7-4957-AE13-8970821A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62250"/>
            <a:ext cx="220503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Browser/tool connects to that 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03B6A-038E-4545-83E4-4770864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2671763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1360EB-83F1-4770-860B-0779FA60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905000"/>
            <a:ext cx="2586038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04AFBE-7310-46D2-A629-CFA5C8C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0574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15232-3E06-4DC1-8C14-81FFACC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400300"/>
            <a:ext cx="22050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Admin learns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2EEA6A-BB02-432F-9A98-34FA0A5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762250"/>
            <a:ext cx="220503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Records reveal mail servers, name servers, aliases, and structure.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31FE5-4FEC-407C-9207-74775E4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7905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C2CE2-5DF7-47BD-B339-B5B4ADC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95F83-33E6-4121-9A14-6C6B63BC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857750"/>
            <a:ext cx="748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Why security learners care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D6816-1546-4C22-B7DE-1B6B3E8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238750"/>
            <a:ext cx="7486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DNS can expose subdomains, mail infrastructure, cloud services, and misconfigurations during authorized reconnaissance.</a:t>
            </a:r>
          </a:p>
        </p:txBody>
      </p:sp>
    </p:spTree>
    <p:extLst>
      <p:ext uri="{BB962C8B-B14F-4D97-AF65-F5344CB8AC3E}">
        <p14:creationId xmlns:p14="http://schemas.microsoft.com/office/powerpoint/2010/main" val="7609077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B9B4B-B082-476C-928B-816A4422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22C4E-4D50-4DA8-BC79-1525245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9EFA-B0E3-4424-BC55-9DE935FE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40F9F-B969-42A5-9A74-A124916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0A360-AD4F-4250-8BB7-1BC8485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D25F5-54E1-4A78-9707-C8E4011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Examining DNS with dig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1C1C4-067F-45FC-89D4-2B8816B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dig is a command-line DNS query tool used to ask DNS servers for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0DE48-0233-4C93-92A4-864733FE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0387F-98C1-4A34-8234-E01D4FB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049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BASIC SYNTAX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E4FB9-E445-458F-9C66-71F13BCA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71675"/>
            <a:ext cx="68961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[@dns-server] domain-name [record-type] [options]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example.com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 A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 AAAA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 MX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 NS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@8.8.8.8 example.com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70F1D-144D-4E3B-B51B-F534639A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1CCEC-3A02-4A68-8901-4789CA16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BDFB0-48A3-48BB-827A-5FD6F35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Question to 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24642-D3AC-408B-8D8A-5AA81BD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2438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What IP address does this domain point to? Which mail server handles email? Which DNS server is authoritative?</a:t>
            </a:r>
          </a:p>
        </p:txBody>
      </p:sp>
    </p:spTree>
    <p:extLst>
      <p:ext uri="{BB962C8B-B14F-4D97-AF65-F5344CB8AC3E}">
        <p14:creationId xmlns:p14="http://schemas.microsoft.com/office/powerpoint/2010/main" val="15360003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777CB-617A-4F02-8F53-DCA0346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5A50B-57FA-47F6-9C2E-3CC28A6E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8EA78-775D-4945-86CA-9A5075A2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788CB-2DD6-4B66-B19F-44867FB0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dig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D17C8-171C-4EE1-ADE2-B2F84A5B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0A23-C0DF-4CCA-8E09-97ED4BA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dig output sections and status 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70E4B-3FF9-4B69-9330-16234BC7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Read the output like a report: header → flags → question → answer →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C1E5A-C688-4F2F-BD41-4ADB4B2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476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86AE6-08AF-4DB6-A297-2FD135A4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Output part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F5281-E11E-46D2-B66E-95D85E74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81125"/>
            <a:ext cx="83820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A480B-F1CE-4E9B-8584-50D4D18A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14475"/>
            <a:ext cx="815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DA77F-AF1D-4791-B9E0-A3160D2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76E1F-4F81-4B03-9351-ADAF6D6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Header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800A1-DF70-4C4D-AA26-ABE27983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02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C083C-50AA-4C2C-950F-3553210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145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Operation, query ID, status, and warning info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96FC3-37F5-418F-BA01-FAE44714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CC995-59D7-45A9-977B-9FDEB6A8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Status: NOERROR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E51DA-BC44-4DA2-A31B-1FD86F2B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193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CCD6F-0FEE-4A7C-90B3-9759A6A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Query worked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48809-C947-4DC6-8215-CF7923C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1E11E-5DCE-4FFE-90E5-11CFEE60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Status: NXDOMAIN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13BC0-E104-49CE-8D3A-F66ED43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384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275C44-EE71-4C0E-8B78-0AA5BC2C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527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Domain does not exist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CED44-1730-4001-B17B-AF4AECC3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19936-2A5B-45FB-BF92-28106C23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Status: SERVFAIL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F7AD6-0C09-4A71-8DAA-CBC6937E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0C935-FB45-4817-B9F2-E2D1F1D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718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DNS server failed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04F71-FA04-47E8-B6B2-4DA89DF5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6C79A-C514-4CBA-8515-D7880F3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Status: REFUSED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7905C-F7DB-4DB1-B62B-A79283B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03D911-502D-4B25-A965-82DD9518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909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DNS server refused the query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5ED31-16C7-4E85-B581-9CF1DD4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731F8C-404D-4441-B0AE-FF61B84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Flags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CE595-6430-46AD-90BB-28568F7B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957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63D2B3-6ED6-4FB7-850D-8AA1ED3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00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qr, rd, ra, aa show query/recursion/authority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7312EA-AEDF-4E9E-A8BD-D9E8D4D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215F6F-F8F5-457B-83EF-010E08B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Question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735CF-855D-4866-BECD-A46F6AF4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148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DA82F-D435-4A13-84C6-026A840E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291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What you asked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88FD9A-749D-4D7B-8F1F-5BDEDF51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1D0515-7C4F-4FE8-A77D-6AB5639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Answer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8AC7B-DDC1-426F-860B-EBC8F30D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339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5EA0E-DEFF-4DAD-8F7B-8B7B9BBA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482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Returned DNS answer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C77BD-070D-4F32-B735-817ECCEE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1C832C-6900-486B-9F15-2CD13D4D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Authority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9ADC7E-903C-499C-946D-1CF66EC9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530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15A85B-41AC-45CD-88DA-8481741F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673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Server responsible for the domain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90CEC5-63D8-49A5-A53E-A3A4C8E9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DA20EE-7D31-4488-89D0-BC6ED044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Additional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FC0980-38B6-4AF5-8F46-7E28A91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C205ED-564B-484F-B951-D1B6FCE8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864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Extra useful IP addresses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A4484A-4458-470E-815E-46546423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1DE267-0937-4712-811A-83F8A367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Server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94F195-F377-48C6-9461-9E93CF4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91225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279D33-37A9-48B9-86CF-9D4B618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05525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Which DNS server answered</a:t>
            </a:r>
          </a:p>
        </p:txBody>
      </p:sp>
    </p:spTree>
    <p:extLst>
      <p:ext uri="{BB962C8B-B14F-4D97-AF65-F5344CB8AC3E}">
        <p14:creationId xmlns:p14="http://schemas.microsoft.com/office/powerpoint/2010/main" val="8601916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EAE7F-4448-479C-BBA0-197F912A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A023B-9728-4A1A-B2D7-0054CD0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366F7-E80F-4903-84A9-513169E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DC3FE-BC0B-4299-9154-0ED45C52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DNS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BEAD9-1166-4924-B96B-357033C4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6AD6E-B16C-4634-B4E2-85144DA3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Common DNS record types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15F30-0B0B-452C-BE84-0D9F852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Different DNS records answer different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9F880-FF67-4376-B497-630A0FA4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4287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FD716-AB19-4D56-9BC3-70C6AB7A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D15C3-3C0C-4AC0-AE55-23B732D2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371475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24275-430F-4E62-A6F9-C156197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09725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E867A-A4EF-418D-A67D-CA671602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524500" cy="533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912A8-10EB-4B74-B80F-A2AEC14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09725"/>
            <a:ext cx="529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Example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E578C-BD2A-4819-B328-22998EB5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ABF0B-7624-4C3B-AF18-915F2486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C597A-9A90-4FC3-B802-85509F3A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97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81356-C779-45B3-A2AB-A624819D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24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Maps domain to IPv4 address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4BABB-C88B-4E86-BF76-FEE1820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97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F482D-4F15-4202-8438-A486BE6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240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What IPv4 does google.com use?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97E04-E7C3-4FA1-B90E-E77F5204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814A3-F93F-47AE-9280-6C0ADFD0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AAAA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F29E5-30E4-48CF-9E99-72FEEE75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431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9731C-7E74-4510-87FE-BF779406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574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Maps domain to IPv6 address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3E98B-1343-4E0D-8754-3E2B1186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C9DC6-3F70-4D49-B9A0-8BF10003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574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What IPv6 does google.com use?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50B9D-36B8-432C-A353-4E727A68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BC696-AC31-479A-8111-FB2CEF7A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CNAME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7F67C-E90E-408F-899A-DCF2CAE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765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DC16D-AC64-4899-A825-181A41A1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908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Alias to another domain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D2740-F6E5-48DA-A689-4105018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765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FC419-BF29-456D-B486-0704D85B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908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Is this hostname an alias?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24116F-E2D1-444C-83E6-A3D9D397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0A351-5D1A-408B-B0A1-98F2C61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102156-B982-4BCF-9FE1-055B305E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99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6E597E-7FFE-4A76-868C-C21EDEA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Mail server record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32EE0-3197-4E89-982B-36C8DE2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F42D62-91A4-4476-B7EA-860F4C8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Where should email be delivered?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1B9FC5-54F1-4DB7-941D-76FE02D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E3CD9-73BA-4BE0-8703-AC9AC85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A19F89-D37A-4F75-ACF4-858F0E76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433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B2692-306A-43E6-B6D7-D3151143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576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Name server record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4AB18B-E514-483B-B8CE-8F9FBA1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E736FB-3F09-4AD8-B749-125255B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576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Who manages DNS for this domain?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D7AA0E-D2C5-4D4E-A775-849BD17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49E731-4409-41CE-811D-F6B30682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TXT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86429D-A93C-4DE8-B79B-BE58D35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767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7F2E3A-B12C-4B01-A90C-B269AE8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910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Text records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1A334E-5FCD-4E0D-BC3D-830FC51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4E42BB-927A-4026-8EE8-6C612C2C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910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SPF, verification, policies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71F40B-9043-4A25-A19C-E23648ED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B13A35-ED39-4323-BB52-23229F9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SOA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A3ECFE-4D80-4B62-BF40-DE1785F8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017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C45522-DC3E-4542-B250-039C90A1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24475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Start of authority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B71E-F8A8-41A2-ACD0-6B629D2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0175"/>
            <a:ext cx="552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E58425-9EB5-41BD-9A2A-4136C0A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24475"/>
            <a:ext cx="529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Primary DNS authority and zone info</a:t>
            </a:r>
          </a:p>
        </p:txBody>
      </p:sp>
    </p:spTree>
    <p:extLst>
      <p:ext uri="{BB962C8B-B14F-4D97-AF65-F5344CB8AC3E}">
        <p14:creationId xmlns:p14="http://schemas.microsoft.com/office/powerpoint/2010/main" val="725595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EE4DD-BE7A-40D0-91D7-3FABF77E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5489E-1B04-4DED-AE3B-E6E2978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0E65A-873E-426E-8691-78815977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D6632-548B-47BB-9665-2B8D0C1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DNS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F4916-D738-413D-8CD9-81A0227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A3423-3CEC-48E5-BA93-877AC136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Changing your DNS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BAF34-687C-4CC4-A96E-5A1710B9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On Linux, /etc/resolv.conf can define which DNS server your system uses.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DE332-4F83-4E5E-9910-909311AD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762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2FD6B-B313-4554-85B7-8DA1FED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/ETC/RESOLV.CONF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EE74-1EF8-4D23-8B07-14597F9D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64198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cat /etc/resolv.conf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# edit manually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nano /etc/resolv.conf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nameserver 8.8.8.8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# or write carefully using sudo shell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sh -c 'echo "nameserver 8.8.8.8" &gt; /etc/resolv.conf'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93B9B-1DB6-42E1-9E3C-AC49CE5D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3429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B6B5D-AEB5-4E8F-9B42-945C3F0C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4D870-0DBB-4AAF-B8A4-D85DFC9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Important caution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E7FDC-870B-4CA2-A991-AC0002C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009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Some systems regenerate /etc/resolv.conf using NetworkManager, systemd-resolved, or DHCP. If it resets, configure DNS through the active network manager.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662D7-836E-4C81-8803-D3353BF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429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F96F7-247A-4909-A28E-E27B1345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0DBCA-E048-490F-B36E-7AE581C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862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Use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2C46F-B466-48E6-89A4-F57F60C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67250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If websites load slowly or DNS fails, try another trusted resolver and test again with dig.</a:t>
            </a:r>
          </a:p>
        </p:txBody>
      </p:sp>
    </p:spTree>
    <p:extLst>
      <p:ext uri="{BB962C8B-B14F-4D97-AF65-F5344CB8AC3E}">
        <p14:creationId xmlns:p14="http://schemas.microsoft.com/office/powerpoint/2010/main" val="17132573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49DB0-0D24-45B3-9A80-420EB5E4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5C3E1-2EB4-4A8F-915A-9F046037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3986-FA77-4DD2-833A-9092887D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D370C-9357-4AF3-80EA-03B8CD9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Name 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402B5-02CE-4C61-A985-A5FAFC3D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1E9DC-2CD7-4B6E-84F4-C0353D1D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Mapping IP addresses with /etc/hosts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5A478-CAF3-406A-85D9-8661250E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Before DNS, Linux checks local name mappings in /etc/hosts.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40B86-C395-4A3B-A0AA-DD64DAD6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5334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86B10-F2D4-491A-A309-1099569F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/ETC/HOSTS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BD7D1-78CA-44D6-9608-3C83EBC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9911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nano /etc/hosts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127.0.0.1       localhost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192.168.1.25   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ping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584D8-A23C-4B76-8197-14DBD96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238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E786F-3B3A-43EA-A23C-6CCD5DA1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B3EB4-E55A-434B-BBFA-EB5CD73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57375"/>
            <a:ext cx="3819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What mapping means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70DD-1516-4F6B-9A34-6A65191D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3819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Mapping means giving a readable hostname to an IP address. Example: `target` becomes easier to remember than 192.168.1.25.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5A469-05D8-4174-8DCD-22589D87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238625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9C700-86A6-416A-990A-E651E695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53954-D74C-4867-8FD0-3B495DA5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67125"/>
            <a:ext cx="3819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Lab example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E2BA3E-9ADB-408C-8254-DBDED8DE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8125"/>
            <a:ext cx="38195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Instead of typing http://127.0.0.1 you can map a local test name such as mybox.lab or app.local.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EF8E3-5DC4-4A49-B4C6-B247D7D9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9E0B"/>
                </a:solidFill>
              </a:defRPr>
            </a:pPr>
            <a:r>
              <a:rPr sz="1425" b="1" i="0">
                <a:solidFill>
                  <a:srgbClr val="F59E0B"/>
                </a:solidFill>
              </a:rPr>
              <a:t>This is local to your machine. It does not change public DNS for other people.</a:t>
            </a:r>
          </a:p>
        </p:txBody>
      </p:sp>
    </p:spTree>
    <p:extLst>
      <p:ext uri="{BB962C8B-B14F-4D97-AF65-F5344CB8AC3E}">
        <p14:creationId xmlns:p14="http://schemas.microsoft.com/office/powerpoint/2010/main" val="5367242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89123-6E0F-445D-A242-B3EDAAFE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51A61-5207-46AD-A398-2E16FE1D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FA505-3A32-4843-8C3F-80499EA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938CE-E001-4CEC-8B95-6870645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Troubleshooting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789C0-08D7-40E8-A7D0-CC5B4651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D83F8-8876-437C-884C-892E9545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Network troubleshooting playbook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69F66-76E7-474E-ABDC-509B790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 this order to find the failing layer quickly.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F67B6-A58E-428C-B3D3-1F667925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8788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73F2B-A7BC-4B1F-9B04-1AEB8AD9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CC29-31B8-4BE3-9FF2-4E750446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706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784B3-E0DD-4724-B279-8406E56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70688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Is interface UP/RUNNING? Cable/Wi‑Fi connected?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F00A5-6B16-457E-A392-B6E821F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330" y="2505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7C409-977F-4891-BA5D-7EC89723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14500"/>
            <a:ext cx="208788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CA9DC-097F-4893-BAAF-15D7BC1E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1866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5170F-7B5E-43E9-A091-8405E91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209800"/>
            <a:ext cx="1706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Address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09E17-6A5B-4865-B11C-B1A5E58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571750"/>
            <a:ext cx="170688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Does it have correct IP/netmask? Not 169.254.x.x?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D3F93-2516-47C6-84DE-186FA55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2505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E8B3B-2D4D-4D05-86E7-8C59891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D82BB-440D-405F-BD88-346043E4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1866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4E735-B305-4AC1-A861-77558708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209800"/>
            <a:ext cx="1706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1DA1D-514A-44E7-9A60-24E2CE7B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571750"/>
            <a:ext cx="170688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Can you ping router/gateway?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AA550-9AD1-41CD-8E8F-C6A77A2F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2505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93B03-28E5-414A-881C-08CB6272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14500"/>
            <a:ext cx="208788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32B4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DBF3E-54C2-424F-82D2-F0853B58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1866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21634-9624-4292-B2F8-BF49115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2209800"/>
            <a:ext cx="1706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Internet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CD76A-C046-43E7-A86B-B92E00DD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2571750"/>
            <a:ext cx="170688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Can you ping a public IP?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66FD6-F6EF-4DA0-B973-EDA76D6A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50507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2D3EE"/>
                </a:solidFill>
              </a:defRPr>
            </a:pPr>
            <a:r>
              <a:rPr sz="2250" b="1" i="0">
                <a:solidFill>
                  <a:srgbClr val="22D3EE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C01B0-A510-435A-ABF1-A2A4DA0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14500"/>
            <a:ext cx="208788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7A0FA1-AE87-4352-8A7A-6D2C1A11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866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3E635"/>
                </a:solidFill>
              </a:defRPr>
            </a:pPr>
            <a:r>
              <a:rPr sz="1350" b="1" i="0">
                <a:solidFill>
                  <a:srgbClr val="A3E635"/>
                </a:solidFill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9F17F2-BECF-4C40-B679-6121892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209800"/>
            <a:ext cx="17068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E4DDD-3F13-47D7-AFF0-C23C199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2571750"/>
            <a:ext cx="170688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7B4C8"/>
                </a:solidFill>
              </a:defRPr>
            </a:pPr>
            <a:r>
              <a:rPr sz="1125" b="0" i="0">
                <a:solidFill>
                  <a:srgbClr val="A7B4C8"/>
                </a:solidFill>
              </a:rPr>
              <a:t>Can dig resolve a domain name?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F4754-EC07-4303-8439-5B3660F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33875"/>
            <a:ext cx="7334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E871E-3DF8-47CD-8A20-FA6972AD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67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3E635"/>
                </a:solidFill>
              </a:defRPr>
            </a:pPr>
            <a:r>
              <a:rPr sz="825" b="1" i="0">
                <a:solidFill>
                  <a:srgbClr val="A3E635"/>
                </a:solidFill>
              </a:rPr>
              <a:t>MINIMUM TOOLKIT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014DA-766E-451B-89BB-017A54BD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733925"/>
            <a:ext cx="6991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ifconfig -a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sudo dhclient eth0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ping -c 4 192.168.1.1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ping -c 4 8.8.8.8</a:t>
            </a:r>
          </a:p>
          <a:p xmlns:a="http://schemas.openxmlformats.org/drawingml/2006/main">
            <a:pPr algn="l">
              <a:defRPr sz="1275" b="0" i="0">
                <a:solidFill>
                  <a:srgbClr val="D1FAE5"/>
                </a:solidFill>
              </a:defRPr>
            </a:pPr>
            <a:r>
              <a:rPr sz="1275" b="0" i="0">
                <a:solidFill>
                  <a:srgbClr val="D1FAE5"/>
                </a:solidFill>
              </a:rPr>
              <a:t>$ dig google.com</a:t>
            </a:r>
          </a:p>
        </p:txBody>
      </p:sp>
    </p:spTree>
    <p:extLst>
      <p:ext uri="{BB962C8B-B14F-4D97-AF65-F5344CB8AC3E}">
        <p14:creationId xmlns:p14="http://schemas.microsoft.com/office/powerpoint/2010/main" val="2476047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DCE8D-4CBB-4542-960E-08BDFF60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ED328-A091-4140-82CC-AA696E49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DA4F5-A45E-40E5-A605-23C7E353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188EC-B1D0-46B4-9B5B-FE579CA3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Cheat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41BCE-C36C-46D3-BD79-4A59A025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B1BDA-494B-4203-A5AA-F0CDD42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One-slide command cheat sheet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DDEF5-6A77-47BD-8028-BD8DD02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Keep this slide near you during labs.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B83C0-7A8F-49BF-BCFC-9875465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238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78045-9447-4EF1-8BB0-5F9FD8AB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E357E-E1EA-4B27-9102-2C9348C5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33500"/>
            <a:ext cx="7810500" cy="4191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CE285-6E5F-41B7-A4DE-CB041923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66850"/>
            <a:ext cx="758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0C378-5564-4E52-B6E7-174538B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E6B95-B54B-4BF5-82D5-977D2F4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Show active interfaces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7D415-5278-494A-98AA-B9F5A7E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526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25C9E-58DB-42AC-AED8-BB96AB55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ifconfig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DD17-4EFE-492F-AFD2-9A71312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DA504-CBCC-4A0A-93AD-DD1EC63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Show all interfaces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3CC16-4122-4E0B-9612-21AB5E5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717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A02F1-9330-46BE-932A-087997B8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860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ifconfig -a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5E2AC-3351-441D-B25F-6BE9869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5DA5D-9470-4F83-A60D-6D8D540B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Show wireless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E6F52-4B84-46B6-B2BF-C6A3AC2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4B9C3-2C19-479C-9851-CA1F64F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051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iwconfig / iwconfig wlan0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404CDF-9A1C-454C-84B9-D5B6ACEB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2ED58-6F94-4A19-8A39-7E22D1E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Bring interface up/down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9AE05-2AEC-452E-A82E-E3D13520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A1EEC-530C-4A79-A80B-94FFE6E3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up / down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93201-7324-4A44-88C5-D1FEBB8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FD38C-E812-4E6C-B220-F3020166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Request DHCP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12437-AAB2-4DC8-A2AD-E4776EC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93A6F-4341-440C-A111-0A8E085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dhclient eth0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A06A3-B2E7-44F0-B408-938578DA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8ACCB6-6F2A-405C-BFA5-8893A48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Set IP/netmask/broadcast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65A80E-8817-4E34-985B-EC305A57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2BEB4B-10BB-4EFA-89C7-9C9DC104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624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eth0 192.168.1.50 netmask 255.255.255.0 broadcast 192.168.1.255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AE3AA0-4E9F-4A15-BD97-D55814D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C57C4F-77FA-4149-9FF5-31F6AA2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Set MTU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3CAA8A-4CB2-442F-94A3-0DE5326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BAB2B2-23D0-4B08-8414-A9E730C5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ifconfig eth0 mtu 1400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F97EA7-D489-4C2A-B1BA-398A01D1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3E5262-F56B-42D9-9BBE-439739E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DNS query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4C282D-ABF7-4712-8320-676C8A04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63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C97FF8-3D18-49D4-BFBD-D40BC4A9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006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dig google.com 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38A055-B962-441B-9862-D357AF7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ED30F4-2F56-43F8-96F6-FEDC04C0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DNS record query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458EDD-1501-470C-B268-60D5435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054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933B92-3B9F-462C-AB27-603F053C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197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dig google.com MX / NS / AAAA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65D03D-9627-4F19-B3FE-95B8888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5BE378-4376-4990-A14A-4FE27094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Edit DNS server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8535CE-65EB-442B-B2DE-96763811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793D54-05DC-4CD8-A184-FDDBC9B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388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nano /etc/resolv.conf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8B5559-D398-4FEA-881E-938D20B7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8785D3-0CB2-4B34-A8F0-208CC70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172A"/>
                </a:solidFill>
              </a:defRPr>
            </a:pPr>
            <a:r>
              <a:rPr sz="1050" b="1" i="0">
                <a:solidFill>
                  <a:srgbClr val="0F172A"/>
                </a:solidFill>
              </a:rPr>
              <a:t>Map hostname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A4A781-70B5-4E21-8232-2D117D17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436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586F05-116C-4D29-9ECB-4A3A60A8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57900"/>
            <a:ext cx="758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F172A"/>
                </a:solidFill>
              </a:defRPr>
            </a:pPr>
            <a:r>
              <a:rPr sz="1050" b="0" i="0">
                <a:solidFill>
                  <a:srgbClr val="0F172A"/>
                </a:solidFill>
              </a:rPr>
              <a:t>sudo nano /etc/hosts</a:t>
            </a:r>
          </a:p>
        </p:txBody>
      </p:sp>
    </p:spTree>
    <p:extLst>
      <p:ext uri="{BB962C8B-B14F-4D97-AF65-F5344CB8AC3E}">
        <p14:creationId xmlns:p14="http://schemas.microsoft.com/office/powerpoint/2010/main" val="149313397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97B8C-7AAB-49F1-B042-BAE24B0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04556-063B-4CD3-BF89-73908C71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0E913-3963-4E57-8D30-1ADA5332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5DA9D-EDBA-4969-A58A-F406DAFC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E11C1-DD90-48C2-9521-7458441B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93A7F-F2B4-44FD-BB34-308847A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Practice lab exercises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CCDC-414E-4554-9CA0-830F6EF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Try these in Kali/Ubuntu on your own network or a safe virtual lab.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2E149-EAB7-48A1-92FB-5C2C5652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953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3BECE-F9B6-4982-BDDF-D8BA4DEC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C9F76-CAE5-4A81-8DD9-C79A3FD0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Lab 1 — Interface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A3F8A-B959-49E3-91E7-259E791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453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Run ifconfig -a and list every interface, state, IP, MAC, MTU, and flags.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00F74-A95F-4B60-906B-8C89A1EC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FEEF7-878B-49D4-A8EA-04478077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8592D-5B94-4279-A185-13572AAE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Lab 2 — DHCP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76D31-1125-45B9-B251-6CD93BEC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53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Disable/enable an interface, request DHCP, then verify with ping and dig.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DBF34-21F6-415C-B8C7-342FD95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262EC-407D-448A-9130-B77FC20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08358-82AD-460F-8328-5948C801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Lab 3 — Wireless observation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275E1-7346-4AFC-8A58-BFAF336E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53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 iwconfig and iwlist scan to identify ESSID, signal strength, channel, and AP MAC.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BC2BD-21BC-44A8-B56C-CF032EFD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953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436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9A163-4859-4863-A95E-74DC32FF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73951-A582-40BB-94F5-ED760AF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Lab 4 — DNS investigation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69268-10B5-4EB3-AFD9-73AABAF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533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Use dig A, AAAA, MX, NS, and @8.8.8.8 queries for a domain and compare outputs.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8445D-A44D-4CAE-AC9D-1F0F7423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Write your commands + outputs in a lab notebook. That habit becomes your future troubleshooting evidence.</a:t>
            </a:r>
          </a:p>
        </p:txBody>
      </p:sp>
    </p:spTree>
    <p:extLst>
      <p:ext uri="{BB962C8B-B14F-4D97-AF65-F5344CB8AC3E}">
        <p14:creationId xmlns:p14="http://schemas.microsoft.com/office/powerpoint/2010/main" val="11011484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71A7AB-297F-444D-94F9-764FDC4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591CB-566C-42D9-8E74-E62EB22C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B7318-8E23-4901-B741-F3A3D92C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463296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E635"/>
          </a:solidFill>
          <a:ln xmlns:a="http://schemas.openxmlformats.org/drawingml/2006/main" w="0">
            <a:solidFill>
              <a:srgbClr val="A3E6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DDE8A-EDFB-458B-9AE4-4B661DF2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13A4-1F12-4C95-B984-0A5A1CA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A7B4C8"/>
                </a:solidFill>
              </a:defRPr>
            </a:pPr>
            <a:r>
              <a:rPr sz="900" b="1" i="0">
                <a:solidFill>
                  <a:srgbClr val="A7B4C8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7C4A0-8BA0-4556-8141-FA2F944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Original study notes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38183-83DD-4B1C-A3DB-799A456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7B4C8"/>
                </a:solidFill>
              </a:defRPr>
            </a:pPr>
            <a:r>
              <a:rPr sz="1275" b="0" i="0">
                <a:solidFill>
                  <a:srgbClr val="A7B4C8"/>
                </a:solidFill>
              </a:rPr>
              <a:t>Thumbnails of the handwritten pages used to build this deck.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fd59726a04c73"/>
          <a:srcRect xmlns:a="http://schemas.openxmlformats.org/drawingml/2006/main" l="0" t="24811" r="0" b="24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28750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12531-8E6B-44DA-92FF-AA17AE11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1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ebd8cace94a66"/>
          <a:srcRect xmlns:a="http://schemas.openxmlformats.org/drawingml/2006/main" l="0" t="23421" r="0" b="23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428750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E29AE-DB6B-4D3E-B2FB-3DF8FBD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5ce5d897543ce"/>
          <a:srcRect xmlns:a="http://schemas.openxmlformats.org/drawingml/2006/main" l="0" t="23625" r="0" b="23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428750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4E91B-CF8F-458E-ADE6-0405D3B2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3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94ed035dc47d0"/>
          <a:srcRect xmlns:a="http://schemas.openxmlformats.org/drawingml/2006/main" l="0" t="23762" r="0" b="23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428750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843E7-1D1E-4E02-B399-370F142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4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a920e12034cee"/>
          <a:srcRect xmlns:a="http://schemas.openxmlformats.org/drawingml/2006/main" l="0" t="23046" r="0" b="230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3857625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6D448-7102-419C-8685-1C0BE733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53cfa236c4819"/>
          <a:srcRect xmlns:a="http://schemas.openxmlformats.org/drawingml/2006/main" l="0" t="22569" r="0" b="2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3857625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351CA-C155-4194-817D-E6F126E7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6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29fa97d314dcd"/>
          <a:srcRect xmlns:a="http://schemas.openxmlformats.org/drawingml/2006/main" l="0" t="23319" r="0" b="23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3857625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AAF4E-E742-4289-91F1-3A611FD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57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7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67d9c6c0741cb"/>
          <a:srcRect xmlns:a="http://schemas.openxmlformats.org/drawingml/2006/main" l="0" t="24511" r="0" b="24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3857625"/>
            <a:ext cx="2238375" cy="1952625"/>
          </a:xfrm>
          <a:prstGeom xmlns:a="http://schemas.openxmlformats.org/drawingml/2006/main" prst="roundRect">
            <a:avLst>
              <a:gd name="adj" fmla="val 585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A00E6-4986-46C8-8A3C-289374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578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A7B4C8"/>
                </a:solidFill>
              </a:defRPr>
            </a:pPr>
            <a:r>
              <a:rPr sz="900" b="0" i="0">
                <a:solidFill>
                  <a:srgbClr val="A7B4C8"/>
                </a:solidFill>
              </a:rPr>
              <a:t>Page 8</a:t>
            </a:r>
          </a:p>
        </p:txBody>
      </p:sp>
    </p:spTree>
    <p:extLst>
      <p:ext uri="{BB962C8B-B14F-4D97-AF65-F5344CB8AC3E}">
        <p14:creationId xmlns:p14="http://schemas.microsoft.com/office/powerpoint/2010/main" val="1699717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2026-06-18T08:33:05.7670000Z</dcterms:created>
  <dcterms:modified xsi:type="dcterms:W3CDTF">2026-06-18T08:33:05.7670000Z</dcterms:modified>
</coreProperties>
</file>